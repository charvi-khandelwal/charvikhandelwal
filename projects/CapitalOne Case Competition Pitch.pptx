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33DB06-ECDC-5439-6B9D-3C86B902E5D9}" name="charvikhandelwal@uchicago.edu" initials="ch" userId="S::urn:spo:guest#charvikhandelwal@uchicago.edu::" providerId="AD"/>
  <p188:author id="{E4357C23-BCEF-1881-53BC-E78BCEB2ABD7}" name="Charvi Khandelwal" initials="" userId="S::Charvi.Khandelwal@P33Chicago.com::5e3cd322-0ec6-45e1-ab09-4379fd200bed" providerId="AD"/>
  <p188:author id="{3361C8C7-3E87-F0F8-0120-4F7A5BAB3282}" name="Khandelwal, Riddhi" initials="KR" userId="S::RKHAND5@emory.edu::66343f3c-354f-41de-8126-38151b5f6bd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511AD1-2D46-B64D-B7E7-9D6534BBF327}" v="387" dt="2026-04-13T13:30:10.906"/>
    <p1510:client id="{1BDCAF5D-617F-890C-E449-3E097DD8AA69}" v="53" dt="2026-04-13T14:31:02.071"/>
    <p1510:client id="{3339FF59-25B7-8FF9-A2D4-43DD41C3821E}" v="8" dt="2026-04-13T05:55:12.803"/>
    <p1510:client id="{38059A95-DE60-933C-4CF4-9E32E7968D27}" v="592" dt="2026-04-13T03:16:39.675"/>
    <p1510:client id="{8E8DB416-CB22-D1FF-62CB-DCCD14B97478}" v="104" dt="2026-04-13T04:11:56.084"/>
    <p1510:client id="{E906AD10-42A6-0699-5D76-5B3CF16467FA}" v="342" dt="2026-04-13T19:04:38.5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25"/>
    <p:restoredTop sz="94626"/>
  </p:normalViewPr>
  <p:slideViewPr>
    <p:cSldViewPr snapToGrid="0">
      <p:cViewPr varScale="1">
        <p:scale>
          <a:sx n="113" d="100"/>
          <a:sy n="113" d="100"/>
        </p:scale>
        <p:origin x="208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588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Image asset: Brazil Ministry of Tourism, “</a:t>
            </a:r>
            <a:r>
              <a:rPr lang="en-US" dirty="0" err="1"/>
              <a:t>Os</a:t>
            </a:r>
            <a:r>
              <a:rPr lang="en-US" dirty="0"/>
              <a:t> 105 </a:t>
            </a:r>
            <a:r>
              <a:rPr lang="en-US" dirty="0" err="1"/>
              <a:t>anos</a:t>
            </a:r>
            <a:r>
              <a:rPr lang="en-US" dirty="0"/>
              <a:t> do </a:t>
            </a:r>
            <a:r>
              <a:rPr lang="en-US" dirty="0" err="1"/>
              <a:t>vai</a:t>
            </a:r>
            <a:r>
              <a:rPr lang="en-US" dirty="0"/>
              <a:t>-e-</a:t>
            </a:r>
            <a:r>
              <a:rPr lang="en-US" dirty="0" err="1"/>
              <a:t>vem</a:t>
            </a:r>
            <a:r>
              <a:rPr lang="en-US" dirty="0"/>
              <a:t> do </a:t>
            </a:r>
            <a:r>
              <a:rPr lang="en-US" dirty="0" err="1"/>
              <a:t>bondinho</a:t>
            </a:r>
            <a:r>
              <a:rPr lang="en-US" dirty="0"/>
              <a:t> do </a:t>
            </a:r>
            <a:r>
              <a:rPr lang="en-US" dirty="0" err="1"/>
              <a:t>Pão</a:t>
            </a:r>
            <a:r>
              <a:rPr lang="en-US" dirty="0"/>
              <a:t> de </a:t>
            </a:r>
            <a:r>
              <a:rPr lang="en-US" dirty="0" err="1"/>
              <a:t>Açúcar</a:t>
            </a:r>
            <a:r>
              <a:rPr lang="en-US" dirty="0"/>
              <a:t>,” updated Sep. 17, 2025: https://</a:t>
            </a:r>
            <a:r>
              <a:rPr lang="en-US" dirty="0" err="1"/>
              <a:t>www.gov.br</a:t>
            </a:r>
            <a:r>
              <a:rPr lang="en-US" dirty="0"/>
              <a:t>/turismo/pt-</a:t>
            </a:r>
            <a:r>
              <a:rPr lang="en-US" dirty="0" err="1"/>
              <a:t>br</a:t>
            </a:r>
            <a:r>
              <a:rPr lang="en-US" dirty="0"/>
              <a:t>/</a:t>
            </a:r>
            <a:r>
              <a:rPr lang="en-US" dirty="0" err="1"/>
              <a:t>assuntos</a:t>
            </a:r>
            <a:r>
              <a:rPr lang="en-US" dirty="0"/>
              <a:t>/</a:t>
            </a:r>
            <a:r>
              <a:rPr lang="en-US" dirty="0" err="1"/>
              <a:t>noticias</a:t>
            </a:r>
            <a:r>
              <a:rPr lang="en-US" dirty="0"/>
              <a:t>/os-105-anos-do-vai-e-vem-do-bondinho-do-pao-de-acucar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Capital One Case Competition Fact Pack, page 10 (prompt).
Capital One Case Competition Fact Pack, pages 13-15 (regional payment behavior, regulation framing, market-selection questions).
Capital One Case Competition Fact Pack, pages 7-8 (Eno, Shopping, Travel, Dining, Lounges / Landings).
Image asset: Government of Brazil, “Brazil welcomed 4.8 million international tourists over five months,” Jun. 16, 2025: https://</a:t>
            </a:r>
            <a:r>
              <a:rPr lang="en-US" dirty="0" err="1"/>
              <a:t>www.gov.br</a:t>
            </a:r>
            <a:r>
              <a:rPr lang="en-US" dirty="0"/>
              <a:t>/</a:t>
            </a:r>
            <a:r>
              <a:rPr lang="en-US" dirty="0" err="1"/>
              <a:t>secom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/latest-news/2025/06/brazil-welcomed-4-8-million-international-tourists-over-five-months-2014-1-million-to-rio-de-janeiro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Capital One Case Competition Fact Pack, page 13 (Pix ~220M transactions/day; U.S. credit cards ~150M; Wero ~275K).
Banco Central do </a:t>
            </a:r>
            <a:r>
              <a:rPr lang="en-US" dirty="0" err="1"/>
              <a:t>Brasil</a:t>
            </a:r>
            <a:r>
              <a:rPr lang="en-US" dirty="0"/>
              <a:t>, “Pix at 5 – The innovation that transformed payments in Brazil,” Nov. 23, 2025: https://</a:t>
            </a:r>
            <a:r>
              <a:rPr lang="en-US" dirty="0" err="1"/>
              <a:t>www.bcb.gov.br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</a:t>
            </a:r>
            <a:r>
              <a:rPr lang="en-US" dirty="0" err="1"/>
              <a:t>pressdetail</a:t>
            </a:r>
            <a:r>
              <a:rPr lang="en-US" dirty="0"/>
              <a:t>/2640/nota
Government of Brazil, “Brazil welcomed 4.8 million international tourists over five months,” Jun. 16, 2025: https://</a:t>
            </a:r>
            <a:r>
              <a:rPr lang="en-US" dirty="0" err="1"/>
              <a:t>www.gov.br</a:t>
            </a:r>
            <a:r>
              <a:rPr lang="en-US" dirty="0"/>
              <a:t>/</a:t>
            </a:r>
            <a:r>
              <a:rPr lang="en-US" dirty="0" err="1"/>
              <a:t>secom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/latest-news/2025/06/brazil-welcomed-4-8-million-international-tourists-over-five-months-2014-1-million-to-rio-de-janeiro
Image asset: Brazil Ministry of Tourism, </a:t>
            </a:r>
            <a:r>
              <a:rPr lang="en-US" dirty="0" err="1"/>
              <a:t>Pão</a:t>
            </a:r>
            <a:r>
              <a:rPr lang="en-US" dirty="0"/>
              <a:t> de </a:t>
            </a:r>
            <a:r>
              <a:rPr lang="en-US" dirty="0" err="1"/>
              <a:t>Açúcar</a:t>
            </a:r>
            <a:r>
              <a:rPr lang="en-US" dirty="0"/>
              <a:t> article, updated Sep. 17, 2025: https://</a:t>
            </a:r>
            <a:r>
              <a:rPr lang="en-US" dirty="0" err="1"/>
              <a:t>www.gov.br</a:t>
            </a:r>
            <a:r>
              <a:rPr lang="en-US" dirty="0"/>
              <a:t>/turismo/pt-</a:t>
            </a:r>
            <a:r>
              <a:rPr lang="en-US" dirty="0" err="1"/>
              <a:t>br</a:t>
            </a:r>
            <a:r>
              <a:rPr lang="en-US" dirty="0"/>
              <a:t>/</a:t>
            </a:r>
            <a:r>
              <a:rPr lang="en-US" dirty="0" err="1"/>
              <a:t>assuntos</a:t>
            </a:r>
            <a:r>
              <a:rPr lang="en-US" dirty="0"/>
              <a:t>/</a:t>
            </a:r>
            <a:r>
              <a:rPr lang="en-US" dirty="0" err="1"/>
              <a:t>noticias</a:t>
            </a:r>
            <a:r>
              <a:rPr lang="en-US" dirty="0"/>
              <a:t>/os-105-anos-do-vai-e-vem-do-bondinho-do-pao-de-acucar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Banco Central do </a:t>
            </a:r>
            <a:r>
              <a:rPr lang="en-US" dirty="0" err="1"/>
              <a:t>Brasil</a:t>
            </a:r>
            <a:r>
              <a:rPr lang="en-US" dirty="0"/>
              <a:t>, “Pix is now the most used payment method in Brazil,” Jan. 3, 2025: https://</a:t>
            </a:r>
            <a:r>
              <a:rPr lang="en-US" dirty="0" err="1"/>
              <a:t>www.bcb.gov.br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</a:t>
            </a:r>
            <a:r>
              <a:rPr lang="en-US" dirty="0" err="1"/>
              <a:t>pressdetail</a:t>
            </a:r>
            <a:r>
              <a:rPr lang="en-US" dirty="0"/>
              <a:t>/2588/nota
Reuters, “Brazil central bank to launch Pix installment feature in September,” Apr. 3, 2025: https://</a:t>
            </a:r>
            <a:r>
              <a:rPr lang="en-US" dirty="0" err="1"/>
              <a:t>www.reuters.com</a:t>
            </a:r>
            <a:r>
              <a:rPr lang="en-US" dirty="0"/>
              <a:t>/technology/brazil-central-bank-launch-pix-installment-feature-september-2025-04-03/
Banco Central do </a:t>
            </a:r>
            <a:r>
              <a:rPr lang="en-US" dirty="0" err="1"/>
              <a:t>Brasil</a:t>
            </a:r>
            <a:r>
              <a:rPr lang="en-US" dirty="0"/>
              <a:t>, Pix overview: https://</a:t>
            </a:r>
            <a:r>
              <a:rPr lang="en-US" dirty="0" err="1"/>
              <a:t>www.bcb.gov.br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</a:t>
            </a:r>
            <a:r>
              <a:rPr lang="en-US" dirty="0" err="1"/>
              <a:t>financialstability</a:t>
            </a:r>
            <a:r>
              <a:rPr lang="en-US" dirty="0"/>
              <a:t>/</a:t>
            </a:r>
            <a:r>
              <a:rPr lang="en-US" dirty="0" err="1"/>
              <a:t>pix_en</a:t>
            </a:r>
            <a:r>
              <a:rPr lang="en-US" dirty="0"/>
              <a:t>
Pix logo used illustratively; official Pix brand mark as displayed by Banco Central do </a:t>
            </a:r>
            <a:r>
              <a:rPr lang="en-US" dirty="0" err="1"/>
              <a:t>Brasil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pasted text in this conversation describing local user, tourist, and Brazil–U.S. travel use cases.
Banco Central do </a:t>
            </a:r>
            <a:r>
              <a:rPr lang="en-US" dirty="0" err="1"/>
              <a:t>Brasil</a:t>
            </a:r>
            <a:r>
              <a:rPr lang="en-US" dirty="0"/>
              <a:t>, Pix overview: https://</a:t>
            </a:r>
            <a:r>
              <a:rPr lang="en-US" dirty="0" err="1"/>
              <a:t>www.bcb.gov.br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</a:t>
            </a:r>
            <a:r>
              <a:rPr lang="en-US" dirty="0" err="1"/>
              <a:t>financialstability</a:t>
            </a:r>
            <a:r>
              <a:rPr lang="en-US" dirty="0"/>
              <a:t>/</a:t>
            </a:r>
            <a:r>
              <a:rPr lang="en-US" dirty="0" err="1"/>
              <a:t>pix_en</a:t>
            </a:r>
            <a:r>
              <a:rPr lang="en-US" dirty="0"/>
              <a:t>
</a:t>
            </a:r>
            <a:r>
              <a:rPr lang="en-US" dirty="0" err="1"/>
              <a:t>Trade.gov</a:t>
            </a:r>
            <a:r>
              <a:rPr lang="en-US" dirty="0"/>
              <a:t>, “Brazil Travel and Tourism </a:t>
            </a:r>
            <a:r>
              <a:rPr lang="en-US" dirty="0" err="1"/>
              <a:t>Worldcup</a:t>
            </a:r>
            <a:r>
              <a:rPr lang="en-US" dirty="0"/>
              <a:t>,” Nov. 24, 2025: https://</a:t>
            </a:r>
            <a:r>
              <a:rPr lang="en-US" dirty="0" err="1"/>
              <a:t>www.trade.gov</a:t>
            </a:r>
            <a:r>
              <a:rPr lang="en-US" dirty="0"/>
              <a:t>/market-intelligence/</a:t>
            </a:r>
            <a:r>
              <a:rPr lang="en-US" dirty="0" err="1"/>
              <a:t>brazil</a:t>
            </a:r>
            <a:r>
              <a:rPr lang="en-US" dirty="0"/>
              <a:t>-travel-and-tourism-</a:t>
            </a:r>
            <a:r>
              <a:rPr lang="en-US" dirty="0" err="1"/>
              <a:t>worldcup</a:t>
            </a:r>
            <a:r>
              <a:rPr lang="en-US" dirty="0"/>
              <a:t>
Image assets: Brazil Ministry of Tourism </a:t>
            </a:r>
            <a:r>
              <a:rPr lang="en-US" dirty="0" err="1"/>
              <a:t>Pão</a:t>
            </a:r>
            <a:r>
              <a:rPr lang="en-US" dirty="0"/>
              <a:t> de </a:t>
            </a:r>
            <a:r>
              <a:rPr lang="en-US" dirty="0" err="1"/>
              <a:t>Açúcar</a:t>
            </a:r>
            <a:r>
              <a:rPr lang="en-US" dirty="0"/>
              <a:t> article and Government of Brazil tourism release URLs used elsewhere in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Capital One Case Competition Fact Pack, pages 7-8 (Eno, Shopping, Travel Portal, Dining, Lounges / Landings).
Capital One Case Competition Fact Pack, page 13 (Pix in Brazil).
</a:t>
            </a:r>
            <a:r>
              <a:rPr lang="en-US" dirty="0" err="1"/>
              <a:t>Trade.gov</a:t>
            </a:r>
            <a:r>
              <a:rPr lang="en-US" dirty="0"/>
              <a:t>, “Brazil Travel and Tourism </a:t>
            </a:r>
            <a:r>
              <a:rPr lang="en-US" dirty="0" err="1"/>
              <a:t>Worldcup</a:t>
            </a:r>
            <a:r>
              <a:rPr lang="en-US" dirty="0"/>
              <a:t>”: https://</a:t>
            </a:r>
            <a:r>
              <a:rPr lang="en-US" dirty="0" err="1"/>
              <a:t>www.trade.gov</a:t>
            </a:r>
            <a:r>
              <a:rPr lang="en-US" dirty="0"/>
              <a:t>/market-intelligence/</a:t>
            </a:r>
            <a:r>
              <a:rPr lang="en-US" dirty="0" err="1"/>
              <a:t>brazil</a:t>
            </a:r>
            <a:r>
              <a:rPr lang="en-US" dirty="0"/>
              <a:t>-travel-and-tourism-</a:t>
            </a:r>
            <a:r>
              <a:rPr lang="en-US" dirty="0" err="1"/>
              <a:t>worldcup</a:t>
            </a:r>
            <a:r>
              <a:rPr lang="en-US" dirty="0"/>
              <a:t>
User-provided pasted text in this conversation for local vs tourist use case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Capital One Case Competition Fact Pack, page 14 (payments are heavily shaped by regulation; Brazil Pix example).
Banco Central do </a:t>
            </a:r>
            <a:r>
              <a:rPr lang="en-US" dirty="0" err="1"/>
              <a:t>Brasil</a:t>
            </a:r>
            <a:r>
              <a:rPr lang="en-US" dirty="0"/>
              <a:t>, Fintech ecosystem / SCD: https://</a:t>
            </a:r>
            <a:r>
              <a:rPr lang="en-US" dirty="0" err="1"/>
              <a:t>www.bcb.gov.br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</a:t>
            </a:r>
            <a:r>
              <a:rPr lang="en-US" dirty="0" err="1"/>
              <a:t>financialstability</a:t>
            </a:r>
            <a:r>
              <a:rPr lang="en-US" dirty="0"/>
              <a:t>/</a:t>
            </a:r>
            <a:r>
              <a:rPr lang="en-US" dirty="0" err="1"/>
              <a:t>fintechs_en</a:t>
            </a:r>
            <a:r>
              <a:rPr lang="en-US" dirty="0"/>
              <a:t>
Banco Central do </a:t>
            </a:r>
            <a:r>
              <a:rPr lang="en-US" dirty="0" err="1"/>
              <a:t>Brasil</a:t>
            </a:r>
            <a:r>
              <a:rPr lang="en-US" dirty="0"/>
              <a:t>, Open Finance: https://</a:t>
            </a:r>
            <a:r>
              <a:rPr lang="en-US" dirty="0" err="1"/>
              <a:t>www.bcb.gov.br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</a:t>
            </a:r>
            <a:r>
              <a:rPr lang="en-US" dirty="0" err="1"/>
              <a:t>financialstability</a:t>
            </a:r>
            <a:r>
              <a:rPr lang="en-US" dirty="0"/>
              <a:t>/</a:t>
            </a:r>
            <a:r>
              <a:rPr lang="en-US" dirty="0" err="1"/>
              <a:t>open_finance</a:t>
            </a:r>
            <a:r>
              <a:rPr lang="en-US" dirty="0"/>
              <a:t>
Banco Central do </a:t>
            </a:r>
            <a:r>
              <a:rPr lang="en-US" dirty="0" err="1"/>
              <a:t>Brasil</a:t>
            </a:r>
            <a:r>
              <a:rPr lang="en-US" dirty="0"/>
              <a:t>, Pix overview: https://</a:t>
            </a:r>
            <a:r>
              <a:rPr lang="en-US" dirty="0" err="1"/>
              <a:t>www.bcb.gov.br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</a:t>
            </a:r>
            <a:r>
              <a:rPr lang="en-US" dirty="0" err="1"/>
              <a:t>financialstability</a:t>
            </a:r>
            <a:r>
              <a:rPr lang="en-US" dirty="0"/>
              <a:t>/</a:t>
            </a:r>
            <a:r>
              <a:rPr lang="en-US" dirty="0" err="1"/>
              <a:t>pix_en</a:t>
            </a:r>
            <a:r>
              <a:rPr lang="en-US" dirty="0"/>
              <a:t>
ANPD, Brazilian Data Protection Law (English translation): https://</a:t>
            </a:r>
            <a:r>
              <a:rPr lang="en-US" dirty="0" err="1"/>
              <a:t>www.gov.br</a:t>
            </a:r>
            <a:r>
              <a:rPr lang="en-US" dirty="0"/>
              <a:t>/</a:t>
            </a:r>
            <a:r>
              <a:rPr lang="en-US" dirty="0" err="1"/>
              <a:t>anpd</a:t>
            </a:r>
            <a:r>
              <a:rPr lang="en-US" dirty="0"/>
              <a:t>/pt-</a:t>
            </a:r>
            <a:r>
              <a:rPr lang="en-US" dirty="0" err="1"/>
              <a:t>br</a:t>
            </a:r>
            <a:r>
              <a:rPr lang="en-US" dirty="0"/>
              <a:t>/</a:t>
            </a:r>
            <a:r>
              <a:rPr lang="en-US" dirty="0" err="1"/>
              <a:t>centrais</a:t>
            </a:r>
            <a:r>
              <a:rPr lang="en-US" dirty="0"/>
              <a:t>-de-</a:t>
            </a:r>
            <a:r>
              <a:rPr lang="en-US" dirty="0" err="1"/>
              <a:t>conteudo</a:t>
            </a:r>
            <a:r>
              <a:rPr lang="en-US" dirty="0"/>
              <a:t>/</a:t>
            </a:r>
            <a:r>
              <a:rPr lang="en-US" dirty="0" err="1"/>
              <a:t>brazilian</a:t>
            </a:r>
            <a:r>
              <a:rPr lang="en-US" dirty="0"/>
              <a:t>-data-protection-</a:t>
            </a:r>
            <a:r>
              <a:rPr lang="en-US" dirty="0" err="1"/>
              <a:t>law.pdf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Banco Central do </a:t>
            </a:r>
            <a:r>
              <a:rPr lang="en-US" dirty="0" err="1"/>
              <a:t>Brasil</a:t>
            </a:r>
            <a:r>
              <a:rPr lang="en-US" dirty="0"/>
              <a:t>, Pix overview: https://</a:t>
            </a:r>
            <a:r>
              <a:rPr lang="en-US" dirty="0" err="1"/>
              <a:t>www.bcb.gov.br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</a:t>
            </a:r>
            <a:r>
              <a:rPr lang="en-US" dirty="0" err="1"/>
              <a:t>financialstability</a:t>
            </a:r>
            <a:r>
              <a:rPr lang="en-US" dirty="0"/>
              <a:t>/</a:t>
            </a:r>
            <a:r>
              <a:rPr lang="en-US" dirty="0" err="1"/>
              <a:t>pix_en</a:t>
            </a:r>
            <a:r>
              <a:rPr lang="en-US" dirty="0"/>
              <a:t>
Banco Central do </a:t>
            </a:r>
            <a:r>
              <a:rPr lang="en-US" dirty="0" err="1"/>
              <a:t>Brasil</a:t>
            </a:r>
            <a:r>
              <a:rPr lang="en-US" dirty="0"/>
              <a:t>, Open Finance: https://</a:t>
            </a:r>
            <a:r>
              <a:rPr lang="en-US" dirty="0" err="1"/>
              <a:t>www.bcb.gov.br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</a:t>
            </a:r>
            <a:r>
              <a:rPr lang="en-US" dirty="0" err="1"/>
              <a:t>financialstability</a:t>
            </a:r>
            <a:r>
              <a:rPr lang="en-US" dirty="0"/>
              <a:t>/</a:t>
            </a:r>
            <a:r>
              <a:rPr lang="en-US" dirty="0" err="1"/>
              <a:t>open_finance</a:t>
            </a:r>
            <a:r>
              <a:rPr lang="en-US" dirty="0"/>
              <a:t>
</a:t>
            </a:r>
            <a:r>
              <a:rPr lang="en-US" dirty="0" err="1"/>
              <a:t>Trade.gov</a:t>
            </a:r>
            <a:r>
              <a:rPr lang="en-US" dirty="0"/>
              <a:t>, “Brazil Travel and Tourism </a:t>
            </a:r>
            <a:r>
              <a:rPr lang="en-US" dirty="0" err="1"/>
              <a:t>Worldcup</a:t>
            </a:r>
            <a:r>
              <a:rPr lang="en-US" dirty="0"/>
              <a:t>”: https://</a:t>
            </a:r>
            <a:r>
              <a:rPr lang="en-US" dirty="0" err="1"/>
              <a:t>www.trade.gov</a:t>
            </a:r>
            <a:r>
              <a:rPr lang="en-US" dirty="0"/>
              <a:t>/market-intelligence/</a:t>
            </a:r>
            <a:r>
              <a:rPr lang="en-US" dirty="0" err="1"/>
              <a:t>brazil</a:t>
            </a:r>
            <a:r>
              <a:rPr lang="en-US" dirty="0"/>
              <a:t>-travel-and-tourism-</a:t>
            </a:r>
            <a:r>
              <a:rPr lang="en-US" dirty="0" err="1"/>
              <a:t>worldcup</a:t>
            </a:r>
            <a:r>
              <a:rPr lang="en-US" dirty="0"/>
              <a:t>
User-provided pasted text in this conversation for pros/cons and mitigation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Capital One Case Competition Fact Pack, pages 6-8 (Capital One business, digital services, travel, dining, lounges).
</a:t>
            </a:r>
            <a:r>
              <a:rPr lang="en-US" dirty="0" err="1"/>
              <a:t>Trade.gov</a:t>
            </a:r>
            <a:r>
              <a:rPr lang="en-US" dirty="0"/>
              <a:t>, “Brazil Travel and Tourism </a:t>
            </a:r>
            <a:r>
              <a:rPr lang="en-US" dirty="0" err="1"/>
              <a:t>Worldcup</a:t>
            </a:r>
            <a:r>
              <a:rPr lang="en-US" dirty="0"/>
              <a:t>,” Nov. 24, 2025: https://</a:t>
            </a:r>
            <a:r>
              <a:rPr lang="en-US" dirty="0" err="1"/>
              <a:t>www.trade.gov</a:t>
            </a:r>
            <a:r>
              <a:rPr lang="en-US" dirty="0"/>
              <a:t>/market-intelligence/</a:t>
            </a:r>
            <a:r>
              <a:rPr lang="en-US" dirty="0" err="1"/>
              <a:t>brazil</a:t>
            </a:r>
            <a:r>
              <a:rPr lang="en-US" dirty="0"/>
              <a:t>-travel-and-tourism-</a:t>
            </a:r>
            <a:r>
              <a:rPr lang="en-US" dirty="0" err="1"/>
              <a:t>worldcup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Capital One Case Competition Fact Pack, pages 7-8, 10, 13-15.
Banco Central do Brasil, “Pix at 5”: https://www.bcb.gov.br/en/pressdetail/2640/nota
Banco Central do Brasil, “Pix is now the most used payment method in Brazil”: https://www.bcb.gov.br/en/pressdetail/2588/nota
Banco Central do Brasil, Pix overview: https://www.bcb.gov.br/en/financialstability/pix_en
Banco Central do Brasil, Open Finance: https://www.bcb.gov.br/en/financialstability/open_finance
Banco Central do Brasil, Fintech ecosystem / SCD: https://www.bcb.gov.br/en/financialstability/fintechs_en
Government of Brazil tourism release: https://www.gov.br/secom/en/latest-news/2025/06/brazil-welcomed-4-8-million-international-tourists-over-five-months-2014-1-million-to-rio-de-janeiro
Brazil Ministry of Tourism Pão de Açúcar article: https://www.gov.br/turismo/pt-br/assuntos/noticias/os-105-anos-do-vai-e-vem-do-bondinho-do-pao-de-acucar
Trade.gov Brazil Travel and Tourism Worldcup: https://www.trade.gov/market-intelligence/brazil-travel-and-tourism-worldcup
ANPD LGPD translation: https://www.gov.br/anpd/pt-br/centrais-de-conteudo/brazilian-data-protection-law.pdf
Reuters, “Brazil central bank to launch Pix installment feature in September,” Apr. 3, 2025: https://www.reuters.com/technology/brazil-central-bank-launch-pix-installment-feature-september-2025-04-03/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383A"/>
          </a:solidFill>
          <a:ln w="12700">
            <a:solidFill>
              <a:srgbClr val="C438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0080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0080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2.jpeg"/><Relationship Id="rId7" Type="http://schemas.openxmlformats.org/officeDocument/2006/relationships/slide" Target="slide5.xml"/><Relationship Id="rId12" Type="http://schemas.openxmlformats.org/officeDocument/2006/relationships/slide" Target="slide1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11" Type="http://schemas.openxmlformats.org/officeDocument/2006/relationships/slide" Target="slide9.xml"/><Relationship Id="rId5" Type="http://schemas.openxmlformats.org/officeDocument/2006/relationships/slide" Target="slide3.xml"/><Relationship Id="rId10" Type="http://schemas.openxmlformats.org/officeDocument/2006/relationships/slide" Target="slide8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1.jpg"/><Relationship Id="rId7" Type="http://schemas.openxmlformats.org/officeDocument/2006/relationships/slide" Target="slide6.xml"/><Relationship Id="rId12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image" Target="../media/image3.png"/><Relationship Id="rId7" Type="http://schemas.openxmlformats.org/officeDocument/2006/relationships/slide" Target="slide7.xml"/><Relationship Id="rId12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slide" Target="slide2.xml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13" Type="http://schemas.openxmlformats.org/officeDocument/2006/relationships/slide" Target="slide9.xml"/><Relationship Id="rId3" Type="http://schemas.openxmlformats.org/officeDocument/2006/relationships/image" Target="../media/image2.jpeg"/><Relationship Id="rId7" Type="http://schemas.openxmlformats.org/officeDocument/2006/relationships/image" Target="../media/image7.svg"/><Relationship Id="rId12" Type="http://schemas.openxmlformats.org/officeDocument/2006/relationships/slide" Target="slide8.xml"/><Relationship Id="rId17" Type="http://schemas.openxmlformats.org/officeDocument/2006/relationships/slide" Target="slide4.xml"/><Relationship Id="rId2" Type="http://schemas.openxmlformats.org/officeDocument/2006/relationships/notesSlide" Target="../notesSlides/notesSlide5.xml"/><Relationship Id="rId16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slide" Target="slide7.xml"/><Relationship Id="rId5" Type="http://schemas.openxmlformats.org/officeDocument/2006/relationships/image" Target="../media/image5.svg"/><Relationship Id="rId15" Type="http://schemas.openxmlformats.org/officeDocument/2006/relationships/slide" Target="slide2.xml"/><Relationship Id="rId10" Type="http://schemas.openxmlformats.org/officeDocument/2006/relationships/slide" Target="slide6.xml"/><Relationship Id="rId4" Type="http://schemas.openxmlformats.org/officeDocument/2006/relationships/image" Target="../media/image4.png"/><Relationship Id="rId9" Type="http://schemas.openxmlformats.org/officeDocument/2006/relationships/slide" Target="slide5.xml"/><Relationship Id="rId14" Type="http://schemas.openxmlformats.org/officeDocument/2006/relationships/slide" Target="slide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3.png"/><Relationship Id="rId7" Type="http://schemas.openxmlformats.org/officeDocument/2006/relationships/slide" Target="slide9.xml"/><Relationship Id="rId12" Type="http://schemas.openxmlformats.org/officeDocument/2006/relationships/slide" Target="slid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11" Type="http://schemas.openxmlformats.org/officeDocument/2006/relationships/slide" Target="slide4.xml"/><Relationship Id="rId5" Type="http://schemas.openxmlformats.org/officeDocument/2006/relationships/slide" Target="slide7.xml"/><Relationship Id="rId10" Type="http://schemas.openxmlformats.org/officeDocument/2006/relationships/slide" Target="slide3.xml"/><Relationship Id="rId4" Type="http://schemas.openxmlformats.org/officeDocument/2006/relationships/slide" Target="slide6.xml"/><Relationship Id="rId9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11" Type="http://schemas.openxmlformats.org/officeDocument/2006/relationships/slide" Target="slide6.xml"/><Relationship Id="rId5" Type="http://schemas.openxmlformats.org/officeDocument/2006/relationships/slide" Target="slide9.xml"/><Relationship Id="rId10" Type="http://schemas.openxmlformats.org/officeDocument/2006/relationships/slide" Target="slide5.xml"/><Relationship Id="rId4" Type="http://schemas.openxmlformats.org/officeDocument/2006/relationships/slide" Target="slide8.xml"/><Relationship Id="rId9" Type="http://schemas.openxmlformats.org/officeDocument/2006/relationships/slide" Target="slid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8.xml"/><Relationship Id="rId7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11" Type="http://schemas.openxmlformats.org/officeDocument/2006/relationships/slide" Target="slide7.xml"/><Relationship Id="rId5" Type="http://schemas.openxmlformats.org/officeDocument/2006/relationships/slide" Target="slide10.xml"/><Relationship Id="rId10" Type="http://schemas.openxmlformats.org/officeDocument/2006/relationships/slide" Target="slide6.xml"/><Relationship Id="rId4" Type="http://schemas.openxmlformats.org/officeDocument/2006/relationships/slide" Target="slide9.xml"/><Relationship Id="rId9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slide" Target="slide9.xml"/><Relationship Id="rId7" Type="http://schemas.openxmlformats.org/officeDocument/2006/relationships/slide" Target="slide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11" Type="http://schemas.openxmlformats.org/officeDocument/2006/relationships/slide" Target="slide8.xml"/><Relationship Id="rId5" Type="http://schemas.openxmlformats.org/officeDocument/2006/relationships/slide" Target="slide2.xml"/><Relationship Id="rId10" Type="http://schemas.openxmlformats.org/officeDocument/2006/relationships/slide" Target="slide7.xml"/><Relationship Id="rId4" Type="http://schemas.openxmlformats.org/officeDocument/2006/relationships/slide" Target="slide10.xml"/><Relationship Id="rId9" Type="http://schemas.openxmlformats.org/officeDocument/2006/relationships/slide" Target="slide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v.br/secom/en/latest-news/2025/06/brazil-welcomed-4-8-million-international-tourists-over-five-months-2014-1-million-to-rio-de-janeiro" TargetMode="External"/><Relationship Id="rId13" Type="http://schemas.openxmlformats.org/officeDocument/2006/relationships/slide" Target="slide2.xml"/><Relationship Id="rId18" Type="http://schemas.openxmlformats.org/officeDocument/2006/relationships/slide" Target="slide7.xml"/><Relationship Id="rId3" Type="http://schemas.openxmlformats.org/officeDocument/2006/relationships/hyperlink" Target="https://www.bcb.gov.br/en/pressdetail/2640/nota" TargetMode="External"/><Relationship Id="rId7" Type="http://schemas.openxmlformats.org/officeDocument/2006/relationships/hyperlink" Target="https://www.bcb.gov.br/en/financialstability/fintechs_en" TargetMode="External"/><Relationship Id="rId12" Type="http://schemas.openxmlformats.org/officeDocument/2006/relationships/slide" Target="slide10.xml"/><Relationship Id="rId17" Type="http://schemas.openxmlformats.org/officeDocument/2006/relationships/slide" Target="slide6.xml"/><Relationship Id="rId2" Type="http://schemas.openxmlformats.org/officeDocument/2006/relationships/notesSlide" Target="../notesSlides/notesSlide10.xml"/><Relationship Id="rId16" Type="http://schemas.openxmlformats.org/officeDocument/2006/relationships/slide" Target="slide5.xml"/><Relationship Id="rId20" Type="http://schemas.openxmlformats.org/officeDocument/2006/relationships/slide" Target="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cb.gov.br/en/financialstability/open_finance" TargetMode="External"/><Relationship Id="rId11" Type="http://schemas.openxmlformats.org/officeDocument/2006/relationships/hyperlink" Target="https://www.reuters.com/world/americas/brazils-pix-set-next-leap-with-launch-recurring-payments-2025-06-04/" TargetMode="External"/><Relationship Id="rId5" Type="http://schemas.openxmlformats.org/officeDocument/2006/relationships/hyperlink" Target="https://www.bcb.gov.br/en/financialstability/pix_en" TargetMode="External"/><Relationship Id="rId15" Type="http://schemas.openxmlformats.org/officeDocument/2006/relationships/slide" Target="slide4.xml"/><Relationship Id="rId10" Type="http://schemas.openxmlformats.org/officeDocument/2006/relationships/hyperlink" Target="https://www.trade.gov/market-intelligence/brazil-travel-and-tourism-worldcup" TargetMode="External"/><Relationship Id="rId19" Type="http://schemas.openxmlformats.org/officeDocument/2006/relationships/slide" Target="slide8.xml"/><Relationship Id="rId4" Type="http://schemas.openxmlformats.org/officeDocument/2006/relationships/hyperlink" Target="https://www.bcb.gov.br/en/pressdetail/2588/nota" TargetMode="External"/><Relationship Id="rId9" Type="http://schemas.openxmlformats.org/officeDocument/2006/relationships/hyperlink" Target="https://www.gov.br/turismo/pt-br" TargetMode="External"/><Relationship Id="rId1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ixpass_final/bondinho_rio.jpg"/>
          <p:cNvPicPr>
            <a:picLocks noChangeAspect="1"/>
          </p:cNvPicPr>
          <p:nvPr/>
        </p:nvPicPr>
        <p:blipFill>
          <a:blip r:embed="rId3"/>
          <a:srcRect t="398" b="398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93F">
              <a:alpha val="58000"/>
            </a:srgbClr>
          </a:solidFill>
          <a:ln w="12700">
            <a:solidFill>
              <a:srgbClr val="07193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89204" y="777240"/>
            <a:ext cx="5361432" cy="4800600"/>
          </a:xfrm>
          <a:prstGeom prst="roundRect">
            <a:avLst>
              <a:gd name="adj" fmla="val 1667"/>
            </a:avLst>
          </a:prstGeom>
          <a:solidFill>
            <a:srgbClr val="081E4B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04672" y="1134960"/>
            <a:ext cx="4730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Times New Roman" panose="02020603050405020304" pitchFamily="18" charset="0"/>
              </a:rPr>
              <a:t>Capital One PixPass</a:t>
            </a:r>
            <a:endParaRPr lang="en-US" sz="3600"/>
          </a:p>
        </p:txBody>
      </p:sp>
      <p:sp>
        <p:nvSpPr>
          <p:cNvPr id="6" name="Text 3"/>
          <p:cNvSpPr/>
          <p:nvPr/>
        </p:nvSpPr>
        <p:spPr>
          <a:xfrm>
            <a:off x="940308" y="1716313"/>
            <a:ext cx="45948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>
                <a:solidFill>
                  <a:srgbClr val="E6EDF9"/>
                </a:solidFill>
              </a:rPr>
              <a:t>Brazil expansion with a Pix-native travel wallet</a:t>
            </a:r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40308" y="2484882"/>
            <a:ext cx="1633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2FC4B2"/>
                </a:solidFill>
              </a:rPr>
              <a:t>Core thesis:</a:t>
            </a:r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40308" y="2786634"/>
            <a:ext cx="3749040" cy="1452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Build on Pix to create a Brazil-native travel wallet that connects seamlessly to Capital One’s U.S. travel ecosystem.</a:t>
            </a:r>
            <a:endParaRPr lang="en-US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81070" y="4675106"/>
            <a:ext cx="1499616" cy="502920"/>
          </a:xfrm>
          <a:prstGeom prst="rect">
            <a:avLst/>
          </a:prstGeom>
          <a:solidFill>
            <a:srgbClr val="2FC4B2"/>
          </a:solidFill>
          <a:ln>
            <a:solidFill>
              <a:srgbClr val="2FC4B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1E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Pix-First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2297509" y="4675790"/>
            <a:ext cx="1499616" cy="502920"/>
          </a:xfrm>
          <a:prstGeom prst="rect">
            <a:avLst/>
          </a:prstGeom>
          <a:solidFill>
            <a:srgbClr val="E1A235"/>
          </a:solidFill>
          <a:ln>
            <a:solidFill>
              <a:srgbClr val="E1A23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1E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Wedge</a:t>
            </a:r>
            <a:endParaRPr lang="en-US" sz="1600"/>
          </a:p>
        </p:txBody>
      </p:sp>
      <p:sp>
        <p:nvSpPr>
          <p:cNvPr id="11" name="Text 8"/>
          <p:cNvSpPr/>
          <p:nvPr/>
        </p:nvSpPr>
        <p:spPr>
          <a:xfrm>
            <a:off x="3977009" y="4675790"/>
            <a:ext cx="1680972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1E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Partner-Led Entry</a:t>
            </a:r>
            <a:endParaRPr lang="en-US" sz="1600"/>
          </a:p>
        </p:txBody>
      </p:sp>
      <p:sp>
        <p:nvSpPr>
          <p:cNvPr id="13" name="Text 10"/>
          <p:cNvSpPr/>
          <p:nvPr/>
        </p:nvSpPr>
        <p:spPr>
          <a:xfrm>
            <a:off x="502920" y="6355080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Image: Brazil Ministry of Tourism / Pão de Açúcar cable car.</a:t>
            </a:r>
            <a:endParaRPr lang="en-US" sz="73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0080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91440" tIns="45720" rIns="91440" bIns="45720" anchor="t"/>
          <a:lstStyle>
            <a:lvl1pPr>
              <a:defRPr sz="800">
                <a:solidFill>
                  <a:srgbClr val="8B8B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sz="1400" b="0" dirty="0"/>
              <a:t>1</a:t>
            </a:fld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7861" y="254708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B1F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Country And Product Overview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706728" y="1035939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43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566928" y="1322743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10160">
            <a:solidFill>
              <a:srgbClr val="D9D4CC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6384" y="1496949"/>
            <a:ext cx="3621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1E4B"/>
                </a:solidFill>
              </a:rPr>
              <a:t>Capital One should expand into Brazil with PixPass, a Pix-native travel wallet.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86384" y="2249424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B1F28"/>
                </a:solidFill>
              </a:rPr>
              <a:t>PixPass is designed around Brazil’s real payment behavior — instant Pix payments and installment-friendly spending — rather than exporting a generic U.S. card model.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4963886" y="1344104"/>
            <a:ext cx="3611880" cy="530352"/>
          </a:xfrm>
          <a:prstGeom prst="roundRect">
            <a:avLst>
              <a:gd name="adj" fmla="val 13793"/>
            </a:avLst>
          </a:prstGeom>
          <a:solidFill>
            <a:srgbClr val="DDF5F1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7235" y="1503539"/>
            <a:ext cx="103316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6A6E77"/>
                </a:solidFill>
              </a:rPr>
              <a:t>COUNTRY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982173" y="167797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B1F28"/>
                </a:solidFill>
              </a:rPr>
              <a:t>Brazil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6395245" y="1593497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B1F28"/>
                </a:solidFill>
              </a:rPr>
              <a:t>Local rail already scaled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4963886" y="2059617"/>
            <a:ext cx="3611880" cy="530352"/>
          </a:xfrm>
          <a:prstGeom prst="roundRect">
            <a:avLst>
              <a:gd name="adj" fmla="val 13793"/>
            </a:avLst>
          </a:prstGeom>
          <a:solidFill>
            <a:srgbClr val="F8E9C8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59763" y="2261745"/>
            <a:ext cx="896381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6A6E77"/>
                </a:solidFill>
              </a:rPr>
              <a:t>PRODUCT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977179" y="240658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B1F28"/>
                </a:solidFill>
              </a:rPr>
              <a:t>PixPass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152606" y="229692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B1F28"/>
                </a:solidFill>
              </a:rPr>
              <a:t>Travel wallet + financing layer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963886" y="2722265"/>
            <a:ext cx="3611880" cy="530352"/>
          </a:xfrm>
          <a:prstGeom prst="roundRect">
            <a:avLst>
              <a:gd name="adj" fmla="val 13793"/>
            </a:avLst>
          </a:prstGeom>
          <a:solidFill>
            <a:srgbClr val="E8F1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94515" y="2853302"/>
            <a:ext cx="658368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6A6E77"/>
                </a:solidFill>
              </a:rPr>
              <a:t>MODEL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041664" y="3083181"/>
            <a:ext cx="1353581" cy="97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B1F28"/>
                </a:solidFill>
              </a:rPr>
              <a:t>Partner-First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6279082" y="290953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1B1F28"/>
                </a:solidFill>
              </a:rPr>
              <a:t>Local license + Capital One experience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8973312" y="1399032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081E4B"/>
          </a:solidFill>
          <a:ln w="10160">
            <a:solidFill>
              <a:srgbClr val="081E4B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89361" y="1537453"/>
            <a:ext cx="2219661" cy="6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Build on top of Pix, not around it.</a:t>
            </a:r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60182" y="2253548"/>
            <a:ext cx="2148840" cy="81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D9E3F3"/>
                </a:solidFill>
              </a:rPr>
              <a:t>Then use Capital One’s travel, shopping, dining, and lounge ecosystem to create value local fintechs cannot easily copy.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566928" y="3462909"/>
            <a:ext cx="1106424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0160">
            <a:solidFill>
              <a:srgbClr val="D9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06728" y="3591439"/>
            <a:ext cx="6160570" cy="258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C4383A"/>
                </a:solidFill>
                <a:latin typeface="Aptos"/>
                <a:ea typeface="Aptos" pitchFamily="34" charset="-122"/>
                <a:cs typeface="Aptos" pitchFamily="34" charset="-120"/>
              </a:rPr>
              <a:t>WHY OUR RECOMMENDATION ANSWERS THE CASE</a:t>
            </a:r>
            <a:endParaRPr lang="en-US" sz="1600">
              <a:latin typeface="Apto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50392" y="3920378"/>
            <a:ext cx="7287768" cy="1700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1B1F28"/>
                </a:solidFill>
                <a:ea typeface="Aptos" pitchFamily="34" charset="-122"/>
                <a:cs typeface="Aptos" pitchFamily="34" charset="-120"/>
              </a:rPr>
              <a:t>It picks one specific market outside Capital One’s current direct footprint: Brazil.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rgbClr val="1B1F28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1B1F28"/>
                </a:solidFill>
                <a:ea typeface="Aptos" pitchFamily="34" charset="-122"/>
                <a:cs typeface="Aptos" pitchFamily="34" charset="-120"/>
              </a:rPr>
              <a:t>It proposes one specific product: </a:t>
            </a:r>
            <a:r>
              <a:rPr lang="en-US" sz="1200" err="1">
                <a:solidFill>
                  <a:srgbClr val="1B1F28"/>
                </a:solidFill>
                <a:ea typeface="Aptos" pitchFamily="34" charset="-122"/>
                <a:cs typeface="Aptos" pitchFamily="34" charset="-120"/>
              </a:rPr>
              <a:t>PixPass</a:t>
            </a:r>
            <a:r>
              <a:rPr lang="en-US" sz="1200">
                <a:solidFill>
                  <a:srgbClr val="1B1F28"/>
                </a:solidFill>
                <a:ea typeface="Aptos" pitchFamily="34" charset="-122"/>
                <a:cs typeface="Aptos" pitchFamily="34" charset="-120"/>
              </a:rPr>
              <a:t>, a localized payment + travel wallet.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rgbClr val="1B1F28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1B1F28"/>
                </a:solidFill>
                <a:ea typeface="Aptos" pitchFamily="34" charset="-122"/>
                <a:cs typeface="Aptos" pitchFamily="34" charset="-120"/>
              </a:rPr>
              <a:t>It is built around local behavior first, which matches the fact pack’s warning that one-size-fits-all approaches will fail.</a:t>
            </a: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1B1F28"/>
                </a:solidFill>
                <a:ea typeface="Aptos" pitchFamily="34" charset="-122"/>
                <a:cs typeface="Aptos" pitchFamily="34" charset="-120"/>
              </a:rPr>
              <a:t>It gives Capital One a feasible entry path through partnerships before full direct licensing.</a:t>
            </a:r>
            <a:endParaRPr lang="en-US" sz="1200"/>
          </a:p>
          <a:p>
            <a:pPr marL="0" indent="0">
              <a:buNone/>
            </a:pPr>
            <a:endParaRPr lang="en-US" sz="1030"/>
          </a:p>
        </p:txBody>
      </p:sp>
      <p:pic>
        <p:nvPicPr>
          <p:cNvPr id="34" name="Image 0" descr="/mnt/data/pixpass_final/rio_sunset_plane.jpeg"/>
          <p:cNvPicPr>
            <a:picLocks noChangeAspect="1"/>
          </p:cNvPicPr>
          <p:nvPr/>
        </p:nvPicPr>
        <p:blipFill>
          <a:blip r:embed="rId3"/>
          <a:srcRect t="10081" b="10081"/>
          <a:stretch/>
        </p:blipFill>
        <p:spPr>
          <a:xfrm>
            <a:off x="8485632" y="3611880"/>
            <a:ext cx="2834640" cy="150876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496518" y="5293505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>
                <a:solidFill>
                  <a:srgbClr val="6A6E77"/>
                </a:solidFill>
              </a:rPr>
              <a:t>Travel is the wedge because it naturally combines payments, budgeting, financing, rewards, and cross-border value.</a:t>
            </a:r>
            <a:endParaRPr lang="en-US" sz="860"/>
          </a:p>
        </p:txBody>
      </p:sp>
      <p:sp>
        <p:nvSpPr>
          <p:cNvPr id="36" name="Text 33"/>
          <p:cNvSpPr/>
          <p:nvPr/>
        </p:nvSpPr>
        <p:spPr>
          <a:xfrm>
            <a:off x="502920" y="6655571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Capital One Fact Pack pp. 10, 13–15, 7–8. Image: gov.br Rio tourism release.</a:t>
            </a:r>
            <a:endParaRPr lang="en-US" sz="73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0080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91440" tIns="45720" rIns="91440" bIns="45720" anchor="t"/>
          <a:lstStyle>
            <a:lvl1pPr>
              <a:defRPr sz="800">
                <a:solidFill>
                  <a:srgbClr val="8B8B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sz="1400" b="0" dirty="0"/>
              <a:t>2</a:t>
            </a:fld>
            <a:endParaRPr lang="en-US" sz="1400"/>
          </a:p>
        </p:txBody>
      </p:sp>
      <p:sp>
        <p:nvSpPr>
          <p:cNvPr id="37" name="Rectangle 36"/>
          <p:cNvSpPr/>
          <p:nvPr/>
        </p:nvSpPr>
        <p:spPr>
          <a:xfrm>
            <a:off x="522179" y="6145828"/>
            <a:ext cx="11064240" cy="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75211" y="6190923"/>
            <a:ext cx="1216896" cy="404513"/>
          </a:xfrm>
          <a:prstGeom prst="roundRect">
            <a:avLst/>
          </a:prstGeom>
          <a:solidFill>
            <a:srgbClr val="123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pto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Recommendation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37827" y="6190923"/>
            <a:ext cx="927159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Brazil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10706" y="6190923"/>
            <a:ext cx="133279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Brazilians Pay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489217" y="6190923"/>
            <a:ext cx="133279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Gaps PixPass Fills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867728" y="6190923"/>
            <a:ext cx="1216896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 Explained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130344" y="6190923"/>
            <a:ext cx="950338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Regulations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126403" y="6190923"/>
            <a:ext cx="985106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Pros &amp; Cons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157229" y="6190923"/>
            <a:ext cx="1367559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Capital One Wins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0570509" y="6190923"/>
            <a:ext cx="63742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219456"/>
            <a:ext cx="1129284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B1F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Brazil is the market Capital One should explore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521208" y="741230"/>
            <a:ext cx="11140440" cy="258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6A6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Brazil is attractive because the payment rail already exists at scale, tourism is rising, and the product can build on behavior instead of forcing it.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602851" y="1118197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>
                <a:solidFill>
                  <a:srgbClr val="C43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STORY</a:t>
            </a:r>
            <a:endParaRPr lang="en-US" sz="740"/>
          </a:p>
        </p:txBody>
      </p:sp>
      <p:pic>
        <p:nvPicPr>
          <p:cNvPr id="5" name="Image 0" descr="/mnt/data/pixpass_final/bondinho_rio.jpg"/>
          <p:cNvPicPr>
            <a:picLocks noChangeAspect="1"/>
          </p:cNvPicPr>
          <p:nvPr/>
        </p:nvPicPr>
        <p:blipFill>
          <a:blip r:embed="rId3"/>
          <a:srcRect l="32531" r="32531"/>
          <a:stretch/>
        </p:blipFill>
        <p:spPr>
          <a:xfrm>
            <a:off x="595988" y="1444108"/>
            <a:ext cx="278892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142" y="5012871"/>
            <a:ext cx="2788920" cy="667512"/>
          </a:xfrm>
          <a:prstGeom prst="rect">
            <a:avLst/>
          </a:prstGeom>
          <a:solidFill>
            <a:srgbClr val="081E4B">
              <a:alpha val="90000"/>
            </a:srgbClr>
          </a:solidFill>
          <a:ln w="12700">
            <a:solidFill>
              <a:srgbClr val="081E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8096" y="51937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>
                <a:solidFill>
                  <a:srgbClr val="FFFFFF"/>
                </a:solidFill>
              </a:rPr>
              <a:t>Brazil already owns the payment behavior. Capital One only needs to add value above the rail.</a:t>
            </a:r>
            <a:endParaRPr lang="en-US" sz="960"/>
          </a:p>
        </p:txBody>
      </p:sp>
      <p:sp>
        <p:nvSpPr>
          <p:cNvPr id="8" name="Text 5"/>
          <p:cNvSpPr/>
          <p:nvPr/>
        </p:nvSpPr>
        <p:spPr>
          <a:xfrm>
            <a:off x="3680460" y="144410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4383A"/>
                </a:solidFill>
                <a:latin typeface="Aptos"/>
                <a:ea typeface="Aptos" pitchFamily="34" charset="-122"/>
                <a:cs typeface="Aptos" pitchFamily="34" charset="-120"/>
              </a:rPr>
              <a:t>WHY BRAZIL?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3680460" y="1730433"/>
            <a:ext cx="3865399" cy="74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A6E77"/>
                </a:solidFill>
              </a:rPr>
              <a:t>Daily payment activity shown in the fact pack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4797663" y="2131045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B1F28"/>
                </a:solidFill>
              </a:rPr>
              <a:t>Pix (Brazil)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6380910" y="2113372"/>
            <a:ext cx="2743200" cy="146304"/>
          </a:xfrm>
          <a:prstGeom prst="roundRect">
            <a:avLst>
              <a:gd name="adj" fmla="val 31250"/>
            </a:avLst>
          </a:prstGeom>
          <a:solidFill>
            <a:srgbClr val="ECE8E1"/>
          </a:solidFill>
          <a:ln w="12700">
            <a:solidFill>
              <a:srgbClr val="ECE8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64542" y="2114108"/>
            <a:ext cx="2743200" cy="146304"/>
          </a:xfrm>
          <a:prstGeom prst="roundRect">
            <a:avLst>
              <a:gd name="adj" fmla="val 31250"/>
            </a:avLst>
          </a:prstGeom>
          <a:solidFill>
            <a:srgbClr val="2FC4B2"/>
          </a:solidFill>
          <a:ln w="12700">
            <a:solidFill>
              <a:srgbClr val="2FC4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659260" y="20958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2FC4B2"/>
                </a:solidFill>
              </a:rPr>
              <a:t>220M</a:t>
            </a:r>
            <a:endParaRPr lang="en-US" sz="1200"/>
          </a:p>
        </p:txBody>
      </p:sp>
      <p:sp>
        <p:nvSpPr>
          <p:cNvPr id="14" name="Text 11"/>
          <p:cNvSpPr/>
          <p:nvPr/>
        </p:nvSpPr>
        <p:spPr>
          <a:xfrm>
            <a:off x="4580691" y="2406793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B1F28"/>
                </a:solidFill>
              </a:rPr>
              <a:t>Credit cards (U.S.)</a:t>
            </a:r>
            <a:endParaRPr lang="en-US" sz="1200"/>
          </a:p>
        </p:txBody>
      </p:sp>
      <p:sp>
        <p:nvSpPr>
          <p:cNvPr id="15" name="Shape 12"/>
          <p:cNvSpPr/>
          <p:nvPr/>
        </p:nvSpPr>
        <p:spPr>
          <a:xfrm>
            <a:off x="6364542" y="2401861"/>
            <a:ext cx="2743200" cy="146304"/>
          </a:xfrm>
          <a:prstGeom prst="roundRect">
            <a:avLst>
              <a:gd name="adj" fmla="val 31250"/>
            </a:avLst>
          </a:prstGeom>
          <a:solidFill>
            <a:srgbClr val="ECE8E1"/>
          </a:solidFill>
          <a:ln w="12700">
            <a:solidFill>
              <a:srgbClr val="ECE8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364542" y="2402684"/>
            <a:ext cx="1870364" cy="146304"/>
          </a:xfrm>
          <a:prstGeom prst="roundRect">
            <a:avLst>
              <a:gd name="adj" fmla="val 31250"/>
            </a:avLst>
          </a:prstGeom>
          <a:solidFill>
            <a:srgbClr val="081E4B"/>
          </a:solidFill>
          <a:ln w="12700">
            <a:solidFill>
              <a:srgbClr val="081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657924" y="24011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081E4B"/>
                </a:solidFill>
              </a:rPr>
              <a:t>150M</a:t>
            </a:r>
            <a:endParaRPr lang="en-US" sz="1200"/>
          </a:p>
        </p:txBody>
      </p:sp>
      <p:sp>
        <p:nvSpPr>
          <p:cNvPr id="18" name="Text 15"/>
          <p:cNvSpPr/>
          <p:nvPr/>
        </p:nvSpPr>
        <p:spPr>
          <a:xfrm>
            <a:off x="4802941" y="2722425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B1F28"/>
                </a:solidFill>
              </a:rPr>
              <a:t>Wero (EU)</a:t>
            </a:r>
            <a:endParaRPr lang="en-US" sz="1200"/>
          </a:p>
        </p:txBody>
      </p:sp>
      <p:sp>
        <p:nvSpPr>
          <p:cNvPr id="19" name="Shape 16"/>
          <p:cNvSpPr/>
          <p:nvPr/>
        </p:nvSpPr>
        <p:spPr>
          <a:xfrm>
            <a:off x="6364542" y="2712495"/>
            <a:ext cx="2743200" cy="146304"/>
          </a:xfrm>
          <a:prstGeom prst="roundRect">
            <a:avLst>
              <a:gd name="adj" fmla="val 31250"/>
            </a:avLst>
          </a:prstGeom>
          <a:solidFill>
            <a:srgbClr val="ECE8E1"/>
          </a:solidFill>
          <a:ln w="12700">
            <a:solidFill>
              <a:srgbClr val="ECE8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364542" y="2704137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E1A235"/>
          </a:solidFill>
          <a:ln w="12700">
            <a:solidFill>
              <a:srgbClr val="E1A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657924" y="27305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E1A235"/>
                </a:solidFill>
              </a:rPr>
              <a:t>275K</a:t>
            </a:r>
            <a:endParaRPr lang="en-US" sz="1200"/>
          </a:p>
        </p:txBody>
      </p:sp>
      <p:sp>
        <p:nvSpPr>
          <p:cNvPr id="22" name="Shape 19"/>
          <p:cNvSpPr/>
          <p:nvPr/>
        </p:nvSpPr>
        <p:spPr>
          <a:xfrm>
            <a:off x="3680460" y="3102414"/>
            <a:ext cx="1723644" cy="104201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9D4CC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830917" y="3260119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81E4B"/>
                </a:solidFill>
              </a:rPr>
              <a:t>170M</a:t>
            </a:r>
            <a:endParaRPr lang="en-US" sz="1800"/>
          </a:p>
        </p:txBody>
      </p:sp>
      <p:sp>
        <p:nvSpPr>
          <p:cNvPr id="24" name="Text 21"/>
          <p:cNvSpPr/>
          <p:nvPr/>
        </p:nvSpPr>
        <p:spPr>
          <a:xfrm>
            <a:off x="3856854" y="3510766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B1F28"/>
                </a:solidFill>
              </a:rPr>
              <a:t>Pix users as of late 2025</a:t>
            </a:r>
            <a:endParaRPr lang="en-US" sz="1200"/>
          </a:p>
        </p:txBody>
      </p:sp>
      <p:sp>
        <p:nvSpPr>
          <p:cNvPr id="25" name="Shape 22"/>
          <p:cNvSpPr/>
          <p:nvPr/>
        </p:nvSpPr>
        <p:spPr>
          <a:xfrm>
            <a:off x="5557876" y="3099025"/>
            <a:ext cx="1723644" cy="1040107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9D4CC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690538" y="3249803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81E4B"/>
                </a:solidFill>
              </a:rPr>
              <a:t>BRL 11T</a:t>
            </a:r>
            <a:endParaRPr lang="en-US" sz="1800"/>
          </a:p>
        </p:txBody>
      </p:sp>
      <p:sp>
        <p:nvSpPr>
          <p:cNvPr id="27" name="Text 24"/>
          <p:cNvSpPr/>
          <p:nvPr/>
        </p:nvSpPr>
        <p:spPr>
          <a:xfrm>
            <a:off x="5690538" y="3503778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B1F28"/>
                </a:solidFill>
              </a:rPr>
              <a:t>Pix value in 2024</a:t>
            </a:r>
            <a:endParaRPr lang="en-US" sz="1200"/>
          </a:p>
        </p:txBody>
      </p:sp>
      <p:sp>
        <p:nvSpPr>
          <p:cNvPr id="34" name="Shape 31"/>
          <p:cNvSpPr/>
          <p:nvPr/>
        </p:nvSpPr>
        <p:spPr>
          <a:xfrm>
            <a:off x="4071564" y="4305735"/>
            <a:ext cx="6812280" cy="1600200"/>
          </a:xfrm>
          <a:prstGeom prst="roundRect">
            <a:avLst>
              <a:gd name="adj" fmla="val 4571"/>
            </a:avLst>
          </a:prstGeom>
          <a:solidFill>
            <a:srgbClr val="FFFDF9"/>
          </a:solidFill>
          <a:ln w="10160">
            <a:solidFill>
              <a:srgbClr val="D9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169536" y="4573626"/>
            <a:ext cx="659456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1B1F28"/>
                </a:solidFill>
              </a:rPr>
              <a:t>Brazil is not just “big.” It is attractive because the rail is already trusted, travel demand is rising, and the product can be localized around existing behavior instead of forcing a foreign payment model.</a:t>
            </a:r>
            <a:endParaRPr lang="en-US" sz="1600"/>
          </a:p>
        </p:txBody>
      </p:sp>
      <p:sp>
        <p:nvSpPr>
          <p:cNvPr id="37" name="Text 34"/>
          <p:cNvSpPr/>
          <p:nvPr/>
        </p:nvSpPr>
        <p:spPr>
          <a:xfrm>
            <a:off x="4278303" y="5533180"/>
            <a:ext cx="2029968" cy="250400"/>
          </a:xfrm>
          <a:prstGeom prst="rect">
            <a:avLst/>
          </a:prstGeom>
          <a:solidFill>
            <a:srgbClr val="DDF5F1"/>
          </a:solidFill>
          <a:ln>
            <a:solidFill>
              <a:srgbClr val="DDF5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81E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exists</a:t>
            </a:r>
            <a:endParaRPr lang="en-US" sz="1200"/>
          </a:p>
        </p:txBody>
      </p:sp>
      <p:sp>
        <p:nvSpPr>
          <p:cNvPr id="38" name="Text 35"/>
          <p:cNvSpPr/>
          <p:nvPr/>
        </p:nvSpPr>
        <p:spPr>
          <a:xfrm>
            <a:off x="6464808" y="5533180"/>
            <a:ext cx="2029968" cy="250400"/>
          </a:xfrm>
          <a:prstGeom prst="rect">
            <a:avLst/>
          </a:prstGeom>
          <a:solidFill>
            <a:srgbClr val="F8E9C8"/>
          </a:solidFill>
          <a:ln>
            <a:solidFill>
              <a:srgbClr val="F8E9C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81E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demand rising</a:t>
            </a:r>
            <a:endParaRPr lang="en-US" sz="1200"/>
          </a:p>
        </p:txBody>
      </p:sp>
      <p:sp>
        <p:nvSpPr>
          <p:cNvPr id="39" name="Text 36"/>
          <p:cNvSpPr/>
          <p:nvPr/>
        </p:nvSpPr>
        <p:spPr>
          <a:xfrm>
            <a:off x="8645870" y="5533180"/>
            <a:ext cx="2029968" cy="250400"/>
          </a:xfrm>
          <a:prstGeom prst="rect">
            <a:avLst/>
          </a:prstGeom>
          <a:solidFill>
            <a:srgbClr val="E8F1FF"/>
          </a:solidFill>
          <a:ln>
            <a:solidFill>
              <a:srgbClr val="E8F1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81E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Differentiation above Pix</a:t>
            </a:r>
            <a:endParaRPr lang="en-US" sz="1200"/>
          </a:p>
        </p:txBody>
      </p:sp>
      <p:sp>
        <p:nvSpPr>
          <p:cNvPr id="40" name="Text 37"/>
          <p:cNvSpPr/>
          <p:nvPr/>
        </p:nvSpPr>
        <p:spPr>
          <a:xfrm>
            <a:off x="502920" y="665683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Fact Pack p. 13; BCB “Pix at 5”; gov.br tourism release.</a:t>
            </a:r>
            <a:endParaRPr lang="en-US" sz="73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0080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91440" tIns="45720" rIns="91440" bIns="45720" anchor="t"/>
          <a:lstStyle>
            <a:lvl1pPr>
              <a:defRPr sz="800">
                <a:solidFill>
                  <a:srgbClr val="8B8B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sz="1400" b="0" dirty="0"/>
              <a:t>3</a:t>
            </a:fld>
            <a:endParaRPr lang="en-US" sz="14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4C40DC1-C025-C184-E1E5-F54486D18F78}"/>
              </a:ext>
            </a:extLst>
          </p:cNvPr>
          <p:cNvSpPr/>
          <p:nvPr/>
        </p:nvSpPr>
        <p:spPr>
          <a:xfrm>
            <a:off x="522179" y="6145828"/>
            <a:ext cx="11064240" cy="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Shape 22">
            <a:extLst>
              <a:ext uri="{FF2B5EF4-FFF2-40B4-BE49-F238E27FC236}">
                <a16:creationId xmlns:a16="http://schemas.microsoft.com/office/drawing/2014/main" id="{9A697C17-DDCC-3607-CA4F-D8814F4FEB0B}"/>
              </a:ext>
            </a:extLst>
          </p:cNvPr>
          <p:cNvSpPr/>
          <p:nvPr/>
        </p:nvSpPr>
        <p:spPr>
          <a:xfrm>
            <a:off x="7477278" y="3103365"/>
            <a:ext cx="1723644" cy="1040107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9D4CC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22">
            <a:extLst>
              <a:ext uri="{FF2B5EF4-FFF2-40B4-BE49-F238E27FC236}">
                <a16:creationId xmlns:a16="http://schemas.microsoft.com/office/drawing/2014/main" id="{7AD4ED22-A953-F152-AF94-9E9942F713C3}"/>
              </a:ext>
            </a:extLst>
          </p:cNvPr>
          <p:cNvSpPr/>
          <p:nvPr/>
        </p:nvSpPr>
        <p:spPr>
          <a:xfrm>
            <a:off x="9354694" y="3113025"/>
            <a:ext cx="1723644" cy="1040107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9D4CC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C01CB6EB-8B03-886D-DDE7-28E0937D8B0D}"/>
              </a:ext>
            </a:extLst>
          </p:cNvPr>
          <p:cNvSpPr/>
          <p:nvPr/>
        </p:nvSpPr>
        <p:spPr>
          <a:xfrm>
            <a:off x="7664949" y="3510766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B1F28"/>
                </a:solidFill>
              </a:rPr>
              <a:t>Foreign visitors Jan–May 2025</a:t>
            </a:r>
            <a:endParaRPr lang="en-US" sz="1200"/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3F7DCE3A-6319-6E76-319A-FF000A95344E}"/>
              </a:ext>
            </a:extLst>
          </p:cNvPr>
          <p:cNvSpPr/>
          <p:nvPr/>
        </p:nvSpPr>
        <p:spPr>
          <a:xfrm>
            <a:off x="9526144" y="3497907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28"/>
                </a:solidFill>
              </a:rPr>
              <a:t>YoY tourism growth Jan–May 2025</a:t>
            </a:r>
            <a:endParaRPr lang="en-US" sz="1200" dirty="0"/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AA2BEF93-0AA0-175D-A988-B3AAD6BD224D}"/>
              </a:ext>
            </a:extLst>
          </p:cNvPr>
          <p:cNvSpPr/>
          <p:nvPr/>
        </p:nvSpPr>
        <p:spPr>
          <a:xfrm>
            <a:off x="7686561" y="320203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81E4B"/>
                </a:solidFill>
              </a:rPr>
              <a:t>4.8M</a:t>
            </a:r>
            <a:endParaRPr lang="en-US" sz="1800"/>
          </a:p>
        </p:txBody>
      </p:sp>
      <p:sp>
        <p:nvSpPr>
          <p:cNvPr id="60" name="Text 29">
            <a:extLst>
              <a:ext uri="{FF2B5EF4-FFF2-40B4-BE49-F238E27FC236}">
                <a16:creationId xmlns:a16="http://schemas.microsoft.com/office/drawing/2014/main" id="{514B77CB-858D-AC0D-DC80-653960AA3FEF}"/>
              </a:ext>
            </a:extLst>
          </p:cNvPr>
          <p:cNvSpPr/>
          <p:nvPr/>
        </p:nvSpPr>
        <p:spPr>
          <a:xfrm>
            <a:off x="9637401" y="320203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81E4B"/>
                </a:solidFill>
              </a:rPr>
              <a:t>+49.7%</a:t>
            </a:r>
            <a:endParaRPr lang="en-US" sz="1800"/>
          </a:p>
        </p:txBody>
      </p:sp>
      <p:sp>
        <p:nvSpPr>
          <p:cNvPr id="31" name="Rounded Rectangle 38">
            <a:extLst>
              <a:ext uri="{FF2B5EF4-FFF2-40B4-BE49-F238E27FC236}">
                <a16:creationId xmlns:a16="http://schemas.microsoft.com/office/drawing/2014/main" id="{2EB5FAA0-9992-C8E8-8E4A-E07815F073DF}"/>
              </a:ext>
            </a:extLst>
          </p:cNvPr>
          <p:cNvSpPr/>
          <p:nvPr/>
        </p:nvSpPr>
        <p:spPr>
          <a:xfrm>
            <a:off x="2137827" y="6190923"/>
            <a:ext cx="927159" cy="404513"/>
          </a:xfrm>
          <a:prstGeom prst="roundRect">
            <a:avLst/>
          </a:prstGeom>
          <a:solidFill>
            <a:srgbClr val="002060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Apto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Brazil</a:t>
            </a:r>
            <a:endParaRPr lang="en-US" sz="900">
              <a:solidFill>
                <a:schemeClr val="bg1"/>
              </a:solidFill>
              <a:latin typeface="Aptos"/>
              <a:hlinkClick r:id="rId4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3" name="Rounded Rectangle 39">
            <a:extLst>
              <a:ext uri="{FF2B5EF4-FFF2-40B4-BE49-F238E27FC236}">
                <a16:creationId xmlns:a16="http://schemas.microsoft.com/office/drawing/2014/main" id="{86DB8B01-71B4-0BA7-BCC6-CE66478709FA}"/>
              </a:ext>
            </a:extLst>
          </p:cNvPr>
          <p:cNvSpPr/>
          <p:nvPr/>
        </p:nvSpPr>
        <p:spPr>
          <a:xfrm>
            <a:off x="3110706" y="6190923"/>
            <a:ext cx="133279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Brazilians Pay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B4BB35F1-9B2A-3E74-BDEE-9E6D3F805620}"/>
              </a:ext>
            </a:extLst>
          </p:cNvPr>
          <p:cNvSpPr/>
          <p:nvPr/>
        </p:nvSpPr>
        <p:spPr>
          <a:xfrm>
            <a:off x="4489217" y="6190923"/>
            <a:ext cx="133279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Gaps PixPass Fills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3" name="Rounded Rectangle 41">
            <a:extLst>
              <a:ext uri="{FF2B5EF4-FFF2-40B4-BE49-F238E27FC236}">
                <a16:creationId xmlns:a16="http://schemas.microsoft.com/office/drawing/2014/main" id="{43C471B1-0444-DDFD-F843-59EA7E5BFDC6}"/>
              </a:ext>
            </a:extLst>
          </p:cNvPr>
          <p:cNvSpPr/>
          <p:nvPr/>
        </p:nvSpPr>
        <p:spPr>
          <a:xfrm>
            <a:off x="5867728" y="6190923"/>
            <a:ext cx="1216896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 Explained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5" name="Rounded Rectangle 42">
            <a:extLst>
              <a:ext uri="{FF2B5EF4-FFF2-40B4-BE49-F238E27FC236}">
                <a16:creationId xmlns:a16="http://schemas.microsoft.com/office/drawing/2014/main" id="{AC57C179-0852-6715-049E-867FFCAB452B}"/>
              </a:ext>
            </a:extLst>
          </p:cNvPr>
          <p:cNvSpPr/>
          <p:nvPr/>
        </p:nvSpPr>
        <p:spPr>
          <a:xfrm>
            <a:off x="7130344" y="6190923"/>
            <a:ext cx="950338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Regulations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7" name="Rounded Rectangle 43">
            <a:extLst>
              <a:ext uri="{FF2B5EF4-FFF2-40B4-BE49-F238E27FC236}">
                <a16:creationId xmlns:a16="http://schemas.microsoft.com/office/drawing/2014/main" id="{7C64AE91-246C-32F6-D524-B6E535687CFF}"/>
              </a:ext>
            </a:extLst>
          </p:cNvPr>
          <p:cNvSpPr/>
          <p:nvPr/>
        </p:nvSpPr>
        <p:spPr>
          <a:xfrm>
            <a:off x="8126403" y="6190923"/>
            <a:ext cx="985106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Pros &amp; Cons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9" name="Rounded Rectangle 44">
            <a:extLst>
              <a:ext uri="{FF2B5EF4-FFF2-40B4-BE49-F238E27FC236}">
                <a16:creationId xmlns:a16="http://schemas.microsoft.com/office/drawing/2014/main" id="{82A12C5B-7D6C-9911-4BF0-0915C17DB315}"/>
              </a:ext>
            </a:extLst>
          </p:cNvPr>
          <p:cNvSpPr/>
          <p:nvPr/>
        </p:nvSpPr>
        <p:spPr>
          <a:xfrm>
            <a:off x="9157229" y="6190923"/>
            <a:ext cx="1367559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Capital One Wins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56" name="Rounded Rectangle 45">
            <a:extLst>
              <a:ext uri="{FF2B5EF4-FFF2-40B4-BE49-F238E27FC236}">
                <a16:creationId xmlns:a16="http://schemas.microsoft.com/office/drawing/2014/main" id="{81E1C86A-6497-83D7-38B3-9FA9AD6478E5}"/>
              </a:ext>
            </a:extLst>
          </p:cNvPr>
          <p:cNvSpPr/>
          <p:nvPr/>
        </p:nvSpPr>
        <p:spPr>
          <a:xfrm>
            <a:off x="10570509" y="6190923"/>
            <a:ext cx="63742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61" name="Rounded Rectangle 42">
            <a:extLst>
              <a:ext uri="{FF2B5EF4-FFF2-40B4-BE49-F238E27FC236}">
                <a16:creationId xmlns:a16="http://schemas.microsoft.com/office/drawing/2014/main" id="{EC4B1A9A-594B-4FA2-D2E9-98997038675D}"/>
              </a:ext>
            </a:extLst>
          </p:cNvPr>
          <p:cNvSpPr/>
          <p:nvPr/>
        </p:nvSpPr>
        <p:spPr>
          <a:xfrm>
            <a:off x="875211" y="6190925"/>
            <a:ext cx="1216896" cy="420839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Recommendation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292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B1F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Brazilians Pay and Approach their Finances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407120" y="907276"/>
            <a:ext cx="1167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6A6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 comes first, installments are expected, and fixed-term clarity matters more than copying a U.S. revolving-credit mindset.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560832" y="1644465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43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BEHAVIOR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566928" y="2083914"/>
            <a:ext cx="3794760" cy="3567078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0160">
            <a:solidFill>
              <a:srgbClr val="D9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7931" y="2332511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81E4B"/>
                </a:solidFill>
              </a:rPr>
              <a:t>Pix is now the most-used payment method in Brazil.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737931" y="2798537"/>
            <a:ext cx="18956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A6E77"/>
                </a:solidFill>
              </a:rPr>
              <a:t>BCB consumer survey, Jan. 2025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764942" y="3379181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B1F28"/>
                </a:solidFill>
              </a:rPr>
              <a:t>Pix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1801047" y="3357713"/>
            <a:ext cx="1481328" cy="164592"/>
          </a:xfrm>
          <a:prstGeom prst="roundRect">
            <a:avLst>
              <a:gd name="adj" fmla="val 27778"/>
            </a:avLst>
          </a:prstGeom>
          <a:solidFill>
            <a:srgbClr val="2FC4B2"/>
          </a:solidFill>
          <a:ln w="12700">
            <a:solidFill>
              <a:srgbClr val="2FC4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56538" y="3350358"/>
            <a:ext cx="6905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2FC4B2"/>
                </a:solidFill>
              </a:rPr>
              <a:t>46.1%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764942" y="369594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B1F28"/>
                </a:solidFill>
              </a:rPr>
              <a:t>Cash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1810512" y="3667443"/>
            <a:ext cx="1481328" cy="164592"/>
          </a:xfrm>
          <a:prstGeom prst="roundRect">
            <a:avLst>
              <a:gd name="adj" fmla="val 27778"/>
            </a:avLst>
          </a:prstGeom>
          <a:solidFill>
            <a:srgbClr val="ECE8E1"/>
          </a:solidFill>
          <a:ln w="12700">
            <a:solidFill>
              <a:srgbClr val="ECE8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01047" y="3667443"/>
            <a:ext cx="706924" cy="164592"/>
          </a:xfrm>
          <a:prstGeom prst="roundRect">
            <a:avLst>
              <a:gd name="adj" fmla="val 27778"/>
            </a:avLst>
          </a:prstGeom>
          <a:solidFill>
            <a:srgbClr val="E1A235"/>
          </a:solidFill>
          <a:ln w="12700">
            <a:solidFill>
              <a:srgbClr val="E1A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6138" y="3667443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E1A235"/>
                </a:solidFill>
              </a:rPr>
              <a:t>22%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764942" y="4015445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B1F28"/>
                </a:solidFill>
              </a:rPr>
              <a:t>Debit cards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1801878" y="3997157"/>
            <a:ext cx="1481328" cy="164592"/>
          </a:xfrm>
          <a:prstGeom prst="roundRect">
            <a:avLst>
              <a:gd name="adj" fmla="val 27778"/>
            </a:avLst>
          </a:prstGeom>
          <a:solidFill>
            <a:srgbClr val="ECE8E1"/>
          </a:solidFill>
          <a:ln w="12700">
            <a:solidFill>
              <a:srgbClr val="ECE8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01878" y="3987721"/>
            <a:ext cx="559113" cy="164592"/>
          </a:xfrm>
          <a:prstGeom prst="roundRect">
            <a:avLst>
              <a:gd name="adj" fmla="val 27778"/>
            </a:avLst>
          </a:prstGeom>
          <a:solidFill>
            <a:srgbClr val="081E4B"/>
          </a:solidFill>
          <a:ln w="12700">
            <a:solidFill>
              <a:srgbClr val="081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32903" y="3987721"/>
            <a:ext cx="3993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081E4B"/>
                </a:solidFill>
              </a:rPr>
              <a:t>17.4%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764942" y="4335485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B1F28"/>
                </a:solidFill>
              </a:rPr>
              <a:t>Credit cards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1801878" y="4315795"/>
            <a:ext cx="1481328" cy="164592"/>
          </a:xfrm>
          <a:prstGeom prst="roundRect">
            <a:avLst>
              <a:gd name="adj" fmla="val 27778"/>
            </a:avLst>
          </a:prstGeom>
          <a:solidFill>
            <a:srgbClr val="ECE8E1"/>
          </a:solidFill>
          <a:ln w="12700">
            <a:solidFill>
              <a:srgbClr val="ECE8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05473" y="4306887"/>
            <a:ext cx="369529" cy="164592"/>
          </a:xfrm>
          <a:prstGeom prst="roundRect">
            <a:avLst>
              <a:gd name="adj" fmla="val 27778"/>
            </a:avLst>
          </a:prstGeom>
          <a:solidFill>
            <a:srgbClr val="C4383A"/>
          </a:solidFill>
          <a:ln w="12700">
            <a:solidFill>
              <a:srgbClr val="C438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07558" y="4315795"/>
            <a:ext cx="448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C4383A"/>
                </a:solidFill>
              </a:rPr>
              <a:t>11.5%</a:t>
            </a:r>
            <a:endParaRPr lang="en-US" sz="1100"/>
          </a:p>
        </p:txBody>
      </p:sp>
      <p:pic>
        <p:nvPicPr>
          <p:cNvPr id="24" name="Image 0" descr="/mnt/data/work_refine/ppt/media/image-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366" y="4576399"/>
            <a:ext cx="987552" cy="987552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553712" y="1566668"/>
            <a:ext cx="3337560" cy="4084324"/>
          </a:xfrm>
          <a:prstGeom prst="roundRect">
            <a:avLst>
              <a:gd name="adj" fmla="val 2192"/>
            </a:avLst>
          </a:prstGeom>
          <a:solidFill>
            <a:srgbClr val="FFFDF9"/>
          </a:solidFill>
          <a:ln w="10160">
            <a:solidFill>
              <a:srgbClr val="D9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684014" y="1714500"/>
            <a:ext cx="30129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81E4B"/>
                </a:solidFill>
              </a:rPr>
              <a:t>Installments are expected, not optional.</a:t>
            </a:r>
            <a:endParaRPr lang="en-US" sz="1200"/>
          </a:p>
        </p:txBody>
      </p:sp>
      <p:sp>
        <p:nvSpPr>
          <p:cNvPr id="27" name="Text 24"/>
          <p:cNvSpPr/>
          <p:nvPr/>
        </p:nvSpPr>
        <p:spPr>
          <a:xfrm>
            <a:off x="4834340" y="1940694"/>
            <a:ext cx="2816352" cy="71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>
                <a:solidFill>
                  <a:srgbClr val="1B1F28"/>
                </a:solidFill>
              </a:rPr>
              <a:t>Reuters notes that installment payments are a major perk of Brazilian consumer culture, and the central bank has extended Pix towards recurring and installment-style use cases.</a:t>
            </a:r>
            <a:endParaRPr lang="en-US" sz="1100"/>
          </a:p>
        </p:txBody>
      </p:sp>
      <p:sp>
        <p:nvSpPr>
          <p:cNvPr id="28" name="Text 25"/>
          <p:cNvSpPr/>
          <p:nvPr/>
        </p:nvSpPr>
        <p:spPr>
          <a:xfrm>
            <a:off x="4836305" y="2733461"/>
            <a:ext cx="530352" cy="256032"/>
          </a:xfrm>
          <a:prstGeom prst="rect">
            <a:avLst/>
          </a:prstGeom>
          <a:solidFill>
            <a:srgbClr val="F8E9C8"/>
          </a:solidFill>
          <a:ln>
            <a:solidFill>
              <a:srgbClr val="F8E9C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81E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3x</a:t>
            </a:r>
            <a:endParaRPr lang="en-US" sz="1100"/>
          </a:p>
        </p:txBody>
      </p:sp>
      <p:sp>
        <p:nvSpPr>
          <p:cNvPr id="29" name="Text 26"/>
          <p:cNvSpPr/>
          <p:nvPr/>
        </p:nvSpPr>
        <p:spPr>
          <a:xfrm>
            <a:off x="5976693" y="2731675"/>
            <a:ext cx="530352" cy="256032"/>
          </a:xfrm>
          <a:prstGeom prst="rect">
            <a:avLst/>
          </a:prstGeom>
          <a:solidFill>
            <a:srgbClr val="F8E9C8"/>
          </a:solidFill>
          <a:ln>
            <a:solidFill>
              <a:srgbClr val="F8E9C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81E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6x</a:t>
            </a:r>
            <a:endParaRPr lang="en-US" sz="1100"/>
          </a:p>
        </p:txBody>
      </p:sp>
      <p:sp>
        <p:nvSpPr>
          <p:cNvPr id="30" name="Text 27"/>
          <p:cNvSpPr/>
          <p:nvPr/>
        </p:nvSpPr>
        <p:spPr>
          <a:xfrm>
            <a:off x="7160623" y="2733461"/>
            <a:ext cx="451106" cy="256032"/>
          </a:xfrm>
          <a:prstGeom prst="rect">
            <a:avLst/>
          </a:prstGeom>
          <a:solidFill>
            <a:srgbClr val="F8E9C8"/>
          </a:solidFill>
          <a:ln>
            <a:solidFill>
              <a:srgbClr val="F8E9C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81E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12x</a:t>
            </a:r>
            <a:endParaRPr lang="en-US" sz="1100"/>
          </a:p>
        </p:txBody>
      </p:sp>
      <p:sp>
        <p:nvSpPr>
          <p:cNvPr id="31" name="Text 28"/>
          <p:cNvSpPr/>
          <p:nvPr/>
        </p:nvSpPr>
        <p:spPr>
          <a:xfrm>
            <a:off x="4617720" y="3169597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4383A"/>
                </a:solidFill>
              </a:rPr>
              <a:t>Implication for PixPass</a:t>
            </a:r>
            <a:endParaRPr lang="en-US" sz="1200"/>
          </a:p>
        </p:txBody>
      </p:sp>
      <p:sp>
        <p:nvSpPr>
          <p:cNvPr id="33" name="Text 30"/>
          <p:cNvSpPr/>
          <p:nvPr/>
        </p:nvSpPr>
        <p:spPr>
          <a:xfrm>
            <a:off x="4773168" y="3539494"/>
            <a:ext cx="28346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fixed-term installments at checkout.</a:t>
            </a:r>
          </a:p>
          <a:p>
            <a:pPr algn="just"/>
            <a:endParaRPr lang="en-US" sz="1100">
              <a:solidFill>
                <a:srgbClr val="1B1F28"/>
              </a:solidFill>
              <a:latin typeface="Aptos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with known terms, not open-ended revolving credit.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>
              <a:solidFill>
                <a:srgbClr val="1B1F28"/>
              </a:solidFill>
              <a:latin typeface="Aptos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travel payments feel like a native part of local booking flow.</a:t>
            </a:r>
            <a:endParaRPr lang="en-US" sz="1100"/>
          </a:p>
          <a:p>
            <a:pPr marL="0" indent="0">
              <a:buNone/>
            </a:pPr>
            <a:endParaRPr lang="en-US" sz="920"/>
          </a:p>
        </p:txBody>
      </p:sp>
      <p:sp>
        <p:nvSpPr>
          <p:cNvPr id="38" name="Shape 35"/>
          <p:cNvSpPr/>
          <p:nvPr/>
        </p:nvSpPr>
        <p:spPr>
          <a:xfrm>
            <a:off x="4773168" y="4742035"/>
            <a:ext cx="2834640" cy="475488"/>
          </a:xfrm>
          <a:prstGeom prst="roundRect">
            <a:avLst/>
          </a:prstGeom>
          <a:solidFill>
            <a:srgbClr val="081E4B"/>
          </a:solidFill>
          <a:ln w="12700">
            <a:solidFill>
              <a:srgbClr val="081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956048" y="4946469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Product design should follow local psychology, not U.S. credit habits.</a:t>
            </a:r>
            <a:endParaRPr lang="en-US" sz="1100"/>
          </a:p>
        </p:txBody>
      </p:sp>
      <p:sp>
        <p:nvSpPr>
          <p:cNvPr id="40" name="Shape 37"/>
          <p:cNvSpPr/>
          <p:nvPr/>
        </p:nvSpPr>
        <p:spPr>
          <a:xfrm>
            <a:off x="8083296" y="1566668"/>
            <a:ext cx="3547872" cy="4084324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0160">
            <a:solidFill>
              <a:srgbClr val="D9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211311" y="17160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81E4B"/>
                </a:solidFill>
              </a:rPr>
              <a:t>Credit psychology is different.</a:t>
            </a:r>
            <a:endParaRPr lang="en-US" sz="1200"/>
          </a:p>
        </p:txBody>
      </p:sp>
      <p:sp>
        <p:nvSpPr>
          <p:cNvPr id="42" name="Text 39"/>
          <p:cNvSpPr/>
          <p:nvPr/>
        </p:nvSpPr>
        <p:spPr>
          <a:xfrm>
            <a:off x="8407908" y="1977078"/>
            <a:ext cx="2926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>
                <a:solidFill>
                  <a:srgbClr val="1B1F28"/>
                </a:solidFill>
              </a:rPr>
              <a:t>Brazil’s revolving credit rates have been extremely high, which makes transparent, structured installment options easier to trust than loose revolving balances.</a:t>
            </a:r>
            <a:endParaRPr lang="en-US" sz="1100"/>
          </a:p>
        </p:txBody>
      </p:sp>
      <p:sp>
        <p:nvSpPr>
          <p:cNvPr id="43" name="Text 40"/>
          <p:cNvSpPr/>
          <p:nvPr/>
        </p:nvSpPr>
        <p:spPr>
          <a:xfrm>
            <a:off x="8211311" y="3061063"/>
            <a:ext cx="2352665" cy="21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4383A"/>
                </a:solidFill>
              </a:rPr>
              <a:t>What that means for the product</a:t>
            </a:r>
            <a:endParaRPr lang="en-US" sz="1200"/>
          </a:p>
        </p:txBody>
      </p:sp>
      <p:sp>
        <p:nvSpPr>
          <p:cNvPr id="45" name="Text 42"/>
          <p:cNvSpPr/>
          <p:nvPr/>
        </p:nvSpPr>
        <p:spPr>
          <a:xfrm>
            <a:off x="8407908" y="3286833"/>
            <a:ext cx="292608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PixPass should feel like a travel wallet first.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1B1F28"/>
              </a:solidFill>
              <a:latin typeface="Aptos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Financing should be embedded, disclosed, and purpose-driven.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1B1F28"/>
              </a:solidFill>
              <a:latin typeface="Aptos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must help users pay and budget, not push revolving balances.</a:t>
            </a:r>
            <a:endParaRPr lang="en-US" sz="1100"/>
          </a:p>
        </p:txBody>
      </p:sp>
      <p:sp>
        <p:nvSpPr>
          <p:cNvPr id="50" name="Shape 47"/>
          <p:cNvSpPr/>
          <p:nvPr/>
        </p:nvSpPr>
        <p:spPr>
          <a:xfrm>
            <a:off x="8302752" y="4709160"/>
            <a:ext cx="3172968" cy="51206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8302752" y="4899006"/>
            <a:ext cx="3084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81E4B"/>
                </a:solidFill>
              </a:rPr>
              <a:t>Brazil does not need another local card. It needs a smarter local wallet for travel spending.</a:t>
            </a:r>
            <a:endParaRPr lang="en-US" sz="1100"/>
          </a:p>
        </p:txBody>
      </p:sp>
      <p:sp>
        <p:nvSpPr>
          <p:cNvPr id="52" name="Text 49"/>
          <p:cNvSpPr/>
          <p:nvPr/>
        </p:nvSpPr>
        <p:spPr>
          <a:xfrm>
            <a:off x="502920" y="665683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BCB payment-method release (Jan. 2025); Reuters on Pix installment expansion; BCB Pix page.</a:t>
            </a:r>
            <a:endParaRPr lang="en-US" sz="730"/>
          </a:p>
        </p:txBody>
      </p:sp>
      <p:sp>
        <p:nvSpPr>
          <p:cNvPr id="6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0080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91440" tIns="45720" rIns="91440" bIns="45720" anchor="t"/>
          <a:lstStyle>
            <a:lvl1pPr>
              <a:defRPr sz="800">
                <a:solidFill>
                  <a:srgbClr val="8B8B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sz="1400" b="0" dirty="0"/>
              <a:t>4</a:t>
            </a:fld>
            <a:endParaRPr lang="en-US" sz="14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720E534-F9BE-31D8-EE6B-F505D8778EB4}"/>
              </a:ext>
            </a:extLst>
          </p:cNvPr>
          <p:cNvSpPr/>
          <p:nvPr/>
        </p:nvSpPr>
        <p:spPr>
          <a:xfrm>
            <a:off x="522179" y="6145828"/>
            <a:ext cx="11064240" cy="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9">
            <a:extLst>
              <a:ext uri="{FF2B5EF4-FFF2-40B4-BE49-F238E27FC236}">
                <a16:creationId xmlns:a16="http://schemas.microsoft.com/office/drawing/2014/main" id="{1E93B09D-601B-1013-A9AE-33C0EAE68879}"/>
              </a:ext>
            </a:extLst>
          </p:cNvPr>
          <p:cNvSpPr/>
          <p:nvPr/>
        </p:nvSpPr>
        <p:spPr>
          <a:xfrm>
            <a:off x="3110706" y="6190923"/>
            <a:ext cx="1332791" cy="404513"/>
          </a:xfrm>
          <a:prstGeom prst="roundRect">
            <a:avLst/>
          </a:prstGeom>
          <a:solidFill>
            <a:srgbClr val="002060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Apto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Brazilians Pay</a:t>
            </a:r>
            <a:endParaRPr lang="en-US" sz="900">
              <a:solidFill>
                <a:schemeClr val="bg1"/>
              </a:solidFill>
              <a:latin typeface="Aptos"/>
            </a:endParaRPr>
          </a:p>
        </p:txBody>
      </p:sp>
      <p:sp>
        <p:nvSpPr>
          <p:cNvPr id="37" name="Rounded Rectangle 40">
            <a:extLst>
              <a:ext uri="{FF2B5EF4-FFF2-40B4-BE49-F238E27FC236}">
                <a16:creationId xmlns:a16="http://schemas.microsoft.com/office/drawing/2014/main" id="{0F123D6E-5133-9359-C786-B5D79D7EA81E}"/>
              </a:ext>
            </a:extLst>
          </p:cNvPr>
          <p:cNvSpPr/>
          <p:nvPr/>
        </p:nvSpPr>
        <p:spPr>
          <a:xfrm>
            <a:off x="4489217" y="6190923"/>
            <a:ext cx="133279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Gaps PixPass Fills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6" name="Rounded Rectangle 41">
            <a:extLst>
              <a:ext uri="{FF2B5EF4-FFF2-40B4-BE49-F238E27FC236}">
                <a16:creationId xmlns:a16="http://schemas.microsoft.com/office/drawing/2014/main" id="{125F70B2-967F-BC96-2625-6661B75F6957}"/>
              </a:ext>
            </a:extLst>
          </p:cNvPr>
          <p:cNvSpPr/>
          <p:nvPr/>
        </p:nvSpPr>
        <p:spPr>
          <a:xfrm>
            <a:off x="5867728" y="6190923"/>
            <a:ext cx="1216896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 Explained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8" name="Rounded Rectangle 42">
            <a:extLst>
              <a:ext uri="{FF2B5EF4-FFF2-40B4-BE49-F238E27FC236}">
                <a16:creationId xmlns:a16="http://schemas.microsoft.com/office/drawing/2014/main" id="{9A836291-7DB1-2651-0AB4-AD5F3CFF1C4C}"/>
              </a:ext>
            </a:extLst>
          </p:cNvPr>
          <p:cNvSpPr/>
          <p:nvPr/>
        </p:nvSpPr>
        <p:spPr>
          <a:xfrm>
            <a:off x="7130344" y="6190923"/>
            <a:ext cx="950338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Regulations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53" name="Rounded Rectangle 43">
            <a:extLst>
              <a:ext uri="{FF2B5EF4-FFF2-40B4-BE49-F238E27FC236}">
                <a16:creationId xmlns:a16="http://schemas.microsoft.com/office/drawing/2014/main" id="{6977B570-8F10-70C5-C426-D5AF173E070A}"/>
              </a:ext>
            </a:extLst>
          </p:cNvPr>
          <p:cNvSpPr/>
          <p:nvPr/>
        </p:nvSpPr>
        <p:spPr>
          <a:xfrm>
            <a:off x="8126403" y="6190923"/>
            <a:ext cx="985106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Pros &amp; Cons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55" name="Rounded Rectangle 44">
            <a:extLst>
              <a:ext uri="{FF2B5EF4-FFF2-40B4-BE49-F238E27FC236}">
                <a16:creationId xmlns:a16="http://schemas.microsoft.com/office/drawing/2014/main" id="{2E217918-0F02-6A98-D9C1-0FF1379CA9C4}"/>
              </a:ext>
            </a:extLst>
          </p:cNvPr>
          <p:cNvSpPr/>
          <p:nvPr/>
        </p:nvSpPr>
        <p:spPr>
          <a:xfrm>
            <a:off x="9157229" y="6190923"/>
            <a:ext cx="1367559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Capital One Wins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57" name="Rounded Rectangle 45">
            <a:extLst>
              <a:ext uri="{FF2B5EF4-FFF2-40B4-BE49-F238E27FC236}">
                <a16:creationId xmlns:a16="http://schemas.microsoft.com/office/drawing/2014/main" id="{50C2E781-0CFD-710B-8BD6-1A120E34F388}"/>
              </a:ext>
            </a:extLst>
          </p:cNvPr>
          <p:cNvSpPr/>
          <p:nvPr/>
        </p:nvSpPr>
        <p:spPr>
          <a:xfrm>
            <a:off x="10570509" y="6190923"/>
            <a:ext cx="63742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59" name="Rounded Rectangle 42">
            <a:extLst>
              <a:ext uri="{FF2B5EF4-FFF2-40B4-BE49-F238E27FC236}">
                <a16:creationId xmlns:a16="http://schemas.microsoft.com/office/drawing/2014/main" id="{78596EC2-D0D9-305E-5295-7E88E4AB2179}"/>
              </a:ext>
            </a:extLst>
          </p:cNvPr>
          <p:cNvSpPr/>
          <p:nvPr/>
        </p:nvSpPr>
        <p:spPr>
          <a:xfrm>
            <a:off x="875211" y="6190925"/>
            <a:ext cx="1216896" cy="420839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Recommendation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61" name="Rounded Rectangle 38">
            <a:extLst>
              <a:ext uri="{FF2B5EF4-FFF2-40B4-BE49-F238E27FC236}">
                <a16:creationId xmlns:a16="http://schemas.microsoft.com/office/drawing/2014/main" id="{AF063F96-AE8B-A5A7-83E2-71747AE0B276}"/>
              </a:ext>
            </a:extLst>
          </p:cNvPr>
          <p:cNvSpPr/>
          <p:nvPr/>
        </p:nvSpPr>
        <p:spPr>
          <a:xfrm>
            <a:off x="2137827" y="6190923"/>
            <a:ext cx="927159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Brazil</a:t>
            </a:r>
            <a:endParaRPr lang="en-US" sz="900">
              <a:solidFill>
                <a:srgbClr val="808080"/>
              </a:solidFill>
              <a:latin typeface="Aptos"/>
              <a:hlinkClick r:id="rId12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4957" y="201463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B1F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Gap </a:t>
            </a:r>
            <a:r>
              <a:rPr lang="en-US" sz="3200" b="1" err="1">
                <a:solidFill>
                  <a:srgbClr val="1B1F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PixPass</a:t>
            </a:r>
            <a:r>
              <a:rPr lang="en-US" sz="3200" b="1">
                <a:solidFill>
                  <a:srgbClr val="1B1F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Fills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57665" y="837304"/>
            <a:ext cx="11966695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6A6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PixPass works because it solves two problems at once: tourists in Brazil cannot easily use Brazil’s payment system, and Brazilians abroad lose the simple payment experience they are used to at home.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566663" y="1304799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43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 THE TWO WORLDS</a:t>
            </a:r>
            <a:endParaRPr lang="en-US" sz="1600"/>
          </a:p>
        </p:txBody>
      </p:sp>
      <p:sp>
        <p:nvSpPr>
          <p:cNvPr id="16" name="Shape 13"/>
          <p:cNvSpPr/>
          <p:nvPr/>
        </p:nvSpPr>
        <p:spPr>
          <a:xfrm>
            <a:off x="4320805" y="1611940"/>
            <a:ext cx="3611880" cy="4305773"/>
          </a:xfrm>
          <a:prstGeom prst="roundRect">
            <a:avLst>
              <a:gd name="adj" fmla="val 2025"/>
            </a:avLst>
          </a:prstGeom>
          <a:solidFill>
            <a:srgbClr val="FFFDF9"/>
          </a:solidFill>
          <a:ln w="10160">
            <a:solidFill>
              <a:srgbClr val="D9D4CC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0" y="1664208"/>
            <a:ext cx="3049259" cy="293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81E4B"/>
                </a:solidFill>
              </a:rPr>
              <a:t>Tourist visiting Brazil</a:t>
            </a:r>
            <a:endParaRPr lang="en-US" sz="1400"/>
          </a:p>
        </p:txBody>
      </p:sp>
      <p:pic>
        <p:nvPicPr>
          <p:cNvPr id="18" name="Image 1" descr="/mnt/data/pixpass_final/rio_sunset_plane.jpeg"/>
          <p:cNvPicPr>
            <a:picLocks noChangeAspect="1"/>
          </p:cNvPicPr>
          <p:nvPr/>
        </p:nvPicPr>
        <p:blipFill>
          <a:blip r:embed="rId3"/>
          <a:srcRect t="11596" b="11596"/>
          <a:stretch/>
        </p:blipFill>
        <p:spPr>
          <a:xfrm>
            <a:off x="4585451" y="2071646"/>
            <a:ext cx="3035808" cy="1444974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08242" y="2860112"/>
            <a:ext cx="868680" cy="8686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522452" y="3642938"/>
            <a:ext cx="3090766" cy="1614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Visitors often default to cards and cash, even though Pix is deeply woven into daily commerce.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>
              <a:solidFill>
                <a:srgbClr val="1B1F28"/>
              </a:solidFill>
              <a:latin typeface="Aptos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err="1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PixPass</a:t>
            </a: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can preload or connect a payment method and translate it into a local-feeling Pix flow.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>
              <a:solidFill>
                <a:srgbClr val="1B1F28"/>
              </a:solidFill>
              <a:latin typeface="Aptos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makes paying in Brazil smoother, clearer, and more intuitive for non-locals.</a:t>
            </a:r>
            <a:endParaRPr lang="en-US" sz="1100"/>
          </a:p>
        </p:txBody>
      </p:sp>
      <p:sp>
        <p:nvSpPr>
          <p:cNvPr id="26" name="Shape 21"/>
          <p:cNvSpPr/>
          <p:nvPr/>
        </p:nvSpPr>
        <p:spPr>
          <a:xfrm>
            <a:off x="4481649" y="5355703"/>
            <a:ext cx="3243782" cy="438912"/>
          </a:xfrm>
          <a:prstGeom prst="roundRect">
            <a:avLst/>
          </a:prstGeom>
          <a:solidFill>
            <a:srgbClr val="F8E9C8"/>
          </a:solidFill>
          <a:ln w="12700">
            <a:solidFill>
              <a:srgbClr val="F8E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4572519" y="5488292"/>
            <a:ext cx="31273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81E4B"/>
                </a:solidFill>
              </a:rPr>
              <a:t>For visitors: pay like a local without having to understand the whole Brazilian payment system.</a:t>
            </a:r>
            <a:endParaRPr lang="en-US" sz="1100"/>
          </a:p>
        </p:txBody>
      </p:sp>
      <p:sp>
        <p:nvSpPr>
          <p:cNvPr id="28" name="Shape 23"/>
          <p:cNvSpPr/>
          <p:nvPr/>
        </p:nvSpPr>
        <p:spPr>
          <a:xfrm>
            <a:off x="8014716" y="1611940"/>
            <a:ext cx="3611880" cy="4231268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D4CC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8319857" y="1718591"/>
            <a:ext cx="2680806" cy="215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81E4B"/>
                </a:solidFill>
              </a:rPr>
              <a:t>Brazilian traveling abroad</a:t>
            </a:r>
            <a:endParaRPr lang="en-US" sz="1400"/>
          </a:p>
        </p:txBody>
      </p:sp>
      <p:sp>
        <p:nvSpPr>
          <p:cNvPr id="30" name="Shape 25"/>
          <p:cNvSpPr/>
          <p:nvPr/>
        </p:nvSpPr>
        <p:spPr>
          <a:xfrm>
            <a:off x="8279892" y="2071646"/>
            <a:ext cx="3035808" cy="1361492"/>
          </a:xfrm>
          <a:prstGeom prst="roundRect">
            <a:avLst/>
          </a:prstGeom>
          <a:solidFill>
            <a:srgbClr val="081E4B"/>
          </a:solidFill>
          <a:ln w="12700">
            <a:solidFill>
              <a:srgbClr val="081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45752" y="2135426"/>
            <a:ext cx="658368" cy="6583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531352" y="289504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São Paulo → Miami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Pix habits at home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Capital One assets abroad</a:t>
            </a:r>
            <a:endParaRPr lang="en-US" sz="1000"/>
          </a:p>
        </p:txBody>
      </p:sp>
      <p:sp>
        <p:nvSpPr>
          <p:cNvPr id="34" name="Text 28"/>
          <p:cNvSpPr/>
          <p:nvPr/>
        </p:nvSpPr>
        <p:spPr>
          <a:xfrm>
            <a:off x="8302752" y="3704191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home, paying is instant and familiar.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>
              <a:solidFill>
                <a:srgbClr val="1B1F28"/>
              </a:solidFill>
              <a:latin typeface="Aptos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Abroad, the experience becomes more fragmented and harder to track.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>
              <a:solidFill>
                <a:srgbClr val="1B1F28"/>
              </a:solidFill>
              <a:latin typeface="Aptos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err="1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PixPass</a:t>
            </a: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carries a more familiar payment experience into the U.S. through Travel, Dining, and lounges.</a:t>
            </a:r>
            <a:endParaRPr lang="en-US" sz="1100"/>
          </a:p>
          <a:p>
            <a:pPr marL="0" indent="0">
              <a:buNone/>
            </a:pPr>
            <a:endParaRPr lang="en-US" sz="930">
              <a:solidFill>
                <a:srgbClr val="1B1F28"/>
              </a:solidFill>
              <a:latin typeface="Aptos" pitchFamily="34" charset="0"/>
            </a:endParaRPr>
          </a:p>
          <a:p>
            <a:pPr marL="0" indent="0">
              <a:buNone/>
            </a:pPr>
            <a:endParaRPr lang="en-US" sz="930"/>
          </a:p>
        </p:txBody>
      </p:sp>
      <p:sp>
        <p:nvSpPr>
          <p:cNvPr id="39" name="Shape 33"/>
          <p:cNvSpPr/>
          <p:nvPr/>
        </p:nvSpPr>
        <p:spPr>
          <a:xfrm>
            <a:off x="8273361" y="5311482"/>
            <a:ext cx="3035808" cy="438912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8303528" y="5411300"/>
            <a:ext cx="2990088" cy="236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81E4B"/>
                </a:solidFill>
              </a:rPr>
              <a:t>The moat: one travel wallet that works in Brazil and becomes even more valuable in the U.S.</a:t>
            </a:r>
            <a:endParaRPr lang="en-US" sz="1100"/>
          </a:p>
        </p:txBody>
      </p:sp>
      <p:sp>
        <p:nvSpPr>
          <p:cNvPr id="41" name="Text 35"/>
          <p:cNvSpPr/>
          <p:nvPr/>
        </p:nvSpPr>
        <p:spPr>
          <a:xfrm>
            <a:off x="502920" y="665683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User-provided product logic; BCB Pix overview; Trade.gov on Brazil–U.S. tourism opportunity.</a:t>
            </a:r>
            <a:endParaRPr lang="en-US" sz="73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0080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91440" tIns="45720" rIns="91440" bIns="45720" anchor="t"/>
          <a:lstStyle>
            <a:lvl1pPr>
              <a:defRPr sz="800">
                <a:solidFill>
                  <a:srgbClr val="8B8B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sz="1400" b="0" dirty="0"/>
              <a:t>5</a:t>
            </a:fld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9E1F247-8C96-AB28-7D07-2DC65D06C086}"/>
              </a:ext>
            </a:extLst>
          </p:cNvPr>
          <p:cNvSpPr/>
          <p:nvPr/>
        </p:nvSpPr>
        <p:spPr>
          <a:xfrm>
            <a:off x="522179" y="6145828"/>
            <a:ext cx="11064240" cy="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0F7F1DBD-913D-D572-2776-BCC9B057D51A}"/>
              </a:ext>
            </a:extLst>
          </p:cNvPr>
          <p:cNvSpPr/>
          <p:nvPr/>
        </p:nvSpPr>
        <p:spPr>
          <a:xfrm>
            <a:off x="566663" y="1611941"/>
            <a:ext cx="3611880" cy="4299897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D4CC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5" name="Image 0" descr="/mnt/data/pixpass_final/bondinho_rio.jpg">
            <a:extLst>
              <a:ext uri="{FF2B5EF4-FFF2-40B4-BE49-F238E27FC236}">
                <a16:creationId xmlns:a16="http://schemas.microsoft.com/office/drawing/2014/main" id="{2998FD13-93D3-5BB7-92B0-6B39DBCAE35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848" b="4848"/>
          <a:stretch/>
        </p:blipFill>
        <p:spPr>
          <a:xfrm>
            <a:off x="871922" y="2042531"/>
            <a:ext cx="3035808" cy="1554480"/>
          </a:xfrm>
          <a:prstGeom prst="rect">
            <a:avLst/>
          </a:prstGeom>
        </p:spPr>
      </p:pic>
      <p:sp>
        <p:nvSpPr>
          <p:cNvPr id="56" name="Text 4">
            <a:extLst>
              <a:ext uri="{FF2B5EF4-FFF2-40B4-BE49-F238E27FC236}">
                <a16:creationId xmlns:a16="http://schemas.microsoft.com/office/drawing/2014/main" id="{6D13CF18-8DF0-5EFF-321A-9C24DD7DE6E5}"/>
              </a:ext>
            </a:extLst>
          </p:cNvPr>
          <p:cNvSpPr/>
          <p:nvPr/>
        </p:nvSpPr>
        <p:spPr>
          <a:xfrm>
            <a:off x="744425" y="1696981"/>
            <a:ext cx="3264954" cy="251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81E4B"/>
                </a:solidFill>
              </a:rPr>
              <a:t>Local user in Brazil</a:t>
            </a:r>
            <a:endParaRPr lang="en-US" sz="1400"/>
          </a:p>
        </p:txBody>
      </p:sp>
      <p:sp>
        <p:nvSpPr>
          <p:cNvPr id="57" name="Text 6">
            <a:extLst>
              <a:ext uri="{FF2B5EF4-FFF2-40B4-BE49-F238E27FC236}">
                <a16:creationId xmlns:a16="http://schemas.microsoft.com/office/drawing/2014/main" id="{09EDDA09-4594-29BC-70B8-3F9130AC6656}"/>
              </a:ext>
            </a:extLst>
          </p:cNvPr>
          <p:cNvSpPr/>
          <p:nvPr/>
        </p:nvSpPr>
        <p:spPr>
          <a:xfrm>
            <a:off x="910572" y="3720057"/>
            <a:ext cx="2715768" cy="1438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traveler in São Paulo books a weekend trip to Rio.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>
              <a:solidFill>
                <a:srgbClr val="1B1F28"/>
              </a:solidFill>
              <a:latin typeface="Aptos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pay instantly with Pix or split a bigger booking into installments.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>
              <a:solidFill>
                <a:srgbClr val="1B1F28"/>
              </a:solidFill>
              <a:latin typeface="Aptos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tracks spend, surfaces deals, and adds travel perks in one place.</a:t>
            </a:r>
            <a:endParaRPr lang="en-US" sz="1100"/>
          </a:p>
        </p:txBody>
      </p:sp>
      <p:sp>
        <p:nvSpPr>
          <p:cNvPr id="58" name="Shape 11">
            <a:extLst>
              <a:ext uri="{FF2B5EF4-FFF2-40B4-BE49-F238E27FC236}">
                <a16:creationId xmlns:a16="http://schemas.microsoft.com/office/drawing/2014/main" id="{4C49DF1F-91E9-02D6-D203-A45F26304A44}"/>
              </a:ext>
            </a:extLst>
          </p:cNvPr>
          <p:cNvSpPr/>
          <p:nvPr/>
        </p:nvSpPr>
        <p:spPr>
          <a:xfrm>
            <a:off x="754984" y="5310642"/>
            <a:ext cx="3269683" cy="464806"/>
          </a:xfrm>
          <a:prstGeom prst="roundRect">
            <a:avLst/>
          </a:prstGeom>
          <a:solidFill>
            <a:srgbClr val="DDF5F1"/>
          </a:solidFill>
          <a:ln w="12700">
            <a:solidFill>
              <a:srgbClr val="DD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6AE5FBCF-DA98-BA2B-5FBB-21C72F1F6839}"/>
              </a:ext>
            </a:extLst>
          </p:cNvPr>
          <p:cNvSpPr/>
          <p:nvPr/>
        </p:nvSpPr>
        <p:spPr>
          <a:xfrm>
            <a:off x="875273" y="5383750"/>
            <a:ext cx="29946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81E4B"/>
                </a:solidFill>
              </a:rPr>
              <a:t>For locals: pay the way Brazil already pays, but with a smarter travel layer.</a:t>
            </a:r>
            <a:endParaRPr lang="en-US" sz="1100"/>
          </a:p>
        </p:txBody>
      </p:sp>
      <p:sp>
        <p:nvSpPr>
          <p:cNvPr id="9" name="Rounded Rectangle 40">
            <a:extLst>
              <a:ext uri="{FF2B5EF4-FFF2-40B4-BE49-F238E27FC236}">
                <a16:creationId xmlns:a16="http://schemas.microsoft.com/office/drawing/2014/main" id="{69695E4F-B99F-B3B5-B971-3B307597ACD9}"/>
              </a:ext>
            </a:extLst>
          </p:cNvPr>
          <p:cNvSpPr/>
          <p:nvPr/>
        </p:nvSpPr>
        <p:spPr>
          <a:xfrm>
            <a:off x="4489217" y="6190923"/>
            <a:ext cx="1332791" cy="404513"/>
          </a:xfrm>
          <a:prstGeom prst="roundRect">
            <a:avLst/>
          </a:prstGeom>
          <a:solidFill>
            <a:srgbClr val="002060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Aptos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Gaps </a:t>
            </a:r>
            <a:r>
              <a:rPr lang="en-US" sz="900" dirty="0" err="1">
                <a:solidFill>
                  <a:schemeClr val="bg1"/>
                </a:solidFill>
                <a:latin typeface="Aptos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PixPass</a:t>
            </a:r>
            <a:r>
              <a:rPr lang="en-US" sz="900" dirty="0">
                <a:solidFill>
                  <a:schemeClr val="bg1"/>
                </a:solidFill>
                <a:latin typeface="Aptos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Fills</a:t>
            </a:r>
            <a:endParaRPr lang="en-US" sz="900">
              <a:solidFill>
                <a:schemeClr val="bg1"/>
              </a:solidFill>
              <a:latin typeface="Aptos"/>
            </a:endParaRPr>
          </a:p>
        </p:txBody>
      </p:sp>
      <p:sp>
        <p:nvSpPr>
          <p:cNvPr id="13" name="Rounded Rectangle 41">
            <a:extLst>
              <a:ext uri="{FF2B5EF4-FFF2-40B4-BE49-F238E27FC236}">
                <a16:creationId xmlns:a16="http://schemas.microsoft.com/office/drawing/2014/main" id="{686F716C-C2C3-12B0-8BAF-75CC38C37A2E}"/>
              </a:ext>
            </a:extLst>
          </p:cNvPr>
          <p:cNvSpPr/>
          <p:nvPr/>
        </p:nvSpPr>
        <p:spPr>
          <a:xfrm>
            <a:off x="5867728" y="6190923"/>
            <a:ext cx="1216896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 Explained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22" name="Rounded Rectangle 42">
            <a:extLst>
              <a:ext uri="{FF2B5EF4-FFF2-40B4-BE49-F238E27FC236}">
                <a16:creationId xmlns:a16="http://schemas.microsoft.com/office/drawing/2014/main" id="{02D6B16E-64C4-E6CC-23D0-1E9E9BDFAB60}"/>
              </a:ext>
            </a:extLst>
          </p:cNvPr>
          <p:cNvSpPr/>
          <p:nvPr/>
        </p:nvSpPr>
        <p:spPr>
          <a:xfrm>
            <a:off x="7130344" y="6190923"/>
            <a:ext cx="950338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Regulations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33" name="Rounded Rectangle 43">
            <a:extLst>
              <a:ext uri="{FF2B5EF4-FFF2-40B4-BE49-F238E27FC236}">
                <a16:creationId xmlns:a16="http://schemas.microsoft.com/office/drawing/2014/main" id="{58F266E8-26BB-0108-91DD-13ED2CEA36E3}"/>
              </a:ext>
            </a:extLst>
          </p:cNvPr>
          <p:cNvSpPr/>
          <p:nvPr/>
        </p:nvSpPr>
        <p:spPr>
          <a:xfrm>
            <a:off x="8126403" y="6190923"/>
            <a:ext cx="985106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Pros &amp; Cons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38" name="Rounded Rectangle 44">
            <a:extLst>
              <a:ext uri="{FF2B5EF4-FFF2-40B4-BE49-F238E27FC236}">
                <a16:creationId xmlns:a16="http://schemas.microsoft.com/office/drawing/2014/main" id="{28E39336-9817-534A-BC42-E42A3E267395}"/>
              </a:ext>
            </a:extLst>
          </p:cNvPr>
          <p:cNvSpPr/>
          <p:nvPr/>
        </p:nvSpPr>
        <p:spPr>
          <a:xfrm>
            <a:off x="9157229" y="6190923"/>
            <a:ext cx="1367559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Capital One Wins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4" name="Rounded Rectangle 45">
            <a:extLst>
              <a:ext uri="{FF2B5EF4-FFF2-40B4-BE49-F238E27FC236}">
                <a16:creationId xmlns:a16="http://schemas.microsoft.com/office/drawing/2014/main" id="{3C8680A3-E9F0-D742-B769-71E1E652E0D6}"/>
              </a:ext>
            </a:extLst>
          </p:cNvPr>
          <p:cNvSpPr/>
          <p:nvPr/>
        </p:nvSpPr>
        <p:spPr>
          <a:xfrm>
            <a:off x="10570509" y="6190923"/>
            <a:ext cx="63742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6" name="Rounded Rectangle 42">
            <a:extLst>
              <a:ext uri="{FF2B5EF4-FFF2-40B4-BE49-F238E27FC236}">
                <a16:creationId xmlns:a16="http://schemas.microsoft.com/office/drawing/2014/main" id="{413991FA-95DE-46E2-6427-156BB9003122}"/>
              </a:ext>
            </a:extLst>
          </p:cNvPr>
          <p:cNvSpPr/>
          <p:nvPr/>
        </p:nvSpPr>
        <p:spPr>
          <a:xfrm>
            <a:off x="875211" y="6190925"/>
            <a:ext cx="1216896" cy="420839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Recommendation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8" name="Rounded Rectangle 38">
            <a:extLst>
              <a:ext uri="{FF2B5EF4-FFF2-40B4-BE49-F238E27FC236}">
                <a16:creationId xmlns:a16="http://schemas.microsoft.com/office/drawing/2014/main" id="{249FC0F1-C580-EB19-7C00-ACA0B3E34373}"/>
              </a:ext>
            </a:extLst>
          </p:cNvPr>
          <p:cNvSpPr/>
          <p:nvPr/>
        </p:nvSpPr>
        <p:spPr>
          <a:xfrm>
            <a:off x="2137827" y="6190923"/>
            <a:ext cx="927159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Brazil</a:t>
            </a:r>
            <a:endParaRPr lang="en-US" sz="900">
              <a:solidFill>
                <a:srgbClr val="808080"/>
              </a:solidFill>
              <a:latin typeface="Aptos"/>
              <a:hlinkClick r:id="rId16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0" name="Rounded Rectangle 39">
            <a:extLst>
              <a:ext uri="{FF2B5EF4-FFF2-40B4-BE49-F238E27FC236}">
                <a16:creationId xmlns:a16="http://schemas.microsoft.com/office/drawing/2014/main" id="{2E0349BF-0769-59DC-FAF5-27E49E4512C4}"/>
              </a:ext>
            </a:extLst>
          </p:cNvPr>
          <p:cNvSpPr/>
          <p:nvPr/>
        </p:nvSpPr>
        <p:spPr>
          <a:xfrm>
            <a:off x="3110706" y="6190923"/>
            <a:ext cx="133279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Brazilians Pay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3805" y="219456"/>
            <a:ext cx="10783389" cy="471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B1F28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The Product: Capital One </a:t>
            </a:r>
            <a:r>
              <a:rPr lang="en-US" sz="3200" b="1" err="1">
                <a:solidFill>
                  <a:srgbClr val="1B1F28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PixPass</a:t>
            </a:r>
            <a:endParaRPr lang="en-US" sz="3200" err="1">
              <a:latin typeface="Aptos Display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2179" y="693856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6A6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Pix-first travel wallet that combines local checkout, embedded financing, and Capital One’s cross-border travel ecosystem.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171715" y="118565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43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FEATURES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877822" y="1523986"/>
            <a:ext cx="4987947" cy="1001786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D2C7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4995" y="1646806"/>
            <a:ext cx="256032" cy="256032"/>
          </a:xfrm>
          <a:prstGeom prst="ellipse">
            <a:avLst/>
          </a:prstGeom>
          <a:solidFill>
            <a:srgbClr val="2FC4B2"/>
          </a:solidFill>
          <a:ln w="12700">
            <a:solidFill>
              <a:srgbClr val="2FC4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4994" y="1646807"/>
            <a:ext cx="256032" cy="24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1317744" y="1682135"/>
            <a:ext cx="25404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1F28"/>
                </a:solidFill>
              </a:rPr>
              <a:t>Pix-Native Checkout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2402259" y="2006629"/>
            <a:ext cx="33642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B1F28"/>
                </a:solidFill>
              </a:rPr>
              <a:t>Flights, hotels, buses, and experiences can all be paid via Pix — the rail customers already trust.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857197" y="2619811"/>
            <a:ext cx="5008573" cy="886483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D2C7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98179" y="2707301"/>
            <a:ext cx="256032" cy="256032"/>
          </a:xfrm>
          <a:prstGeom prst="ellipse">
            <a:avLst/>
          </a:prstGeom>
          <a:solidFill>
            <a:srgbClr val="E1A235"/>
          </a:solidFill>
          <a:ln w="12700">
            <a:solidFill>
              <a:srgbClr val="E1A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94995" y="2721685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1325128" y="2748797"/>
            <a:ext cx="25826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1F28"/>
                </a:solidFill>
              </a:rPr>
              <a:t>Embedded Installments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2467275" y="3032220"/>
            <a:ext cx="341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B1F28"/>
                </a:solidFill>
              </a:rPr>
              <a:t>Checkout can offer 3x / 6x / 12x structured installments for larger travel purchases.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877822" y="3600333"/>
            <a:ext cx="5008573" cy="883436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D2C7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24214" y="3677805"/>
            <a:ext cx="256032" cy="237991"/>
          </a:xfrm>
          <a:prstGeom prst="ellipse">
            <a:avLst/>
          </a:prstGeom>
          <a:solidFill>
            <a:srgbClr val="C4383A"/>
          </a:solidFill>
          <a:ln w="12700">
            <a:solidFill>
              <a:srgbClr val="C438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16117" y="3677805"/>
            <a:ext cx="256032" cy="212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1363200" y="3701153"/>
            <a:ext cx="2249424" cy="189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1F28"/>
                </a:solidFill>
              </a:rPr>
              <a:t>Eno Travel Assistant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2467275" y="3982568"/>
            <a:ext cx="32785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>
                <a:solidFill>
                  <a:srgbClr val="1B1F28"/>
                </a:solidFill>
              </a:rPr>
              <a:t>Alerts, disruption support, fraud flags, and spend tracking keep the travel experience smoother.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863474" y="4594195"/>
            <a:ext cx="5043550" cy="90223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D2C7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98179" y="4636648"/>
            <a:ext cx="256032" cy="256032"/>
          </a:xfrm>
          <a:prstGeom prst="ellipse">
            <a:avLst/>
          </a:prstGeom>
          <a:solidFill>
            <a:srgbClr val="3C8DFF"/>
          </a:solidFill>
          <a:ln w="12700">
            <a:solidFill>
              <a:srgbClr val="3C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63200" y="4680530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B1F28"/>
                </a:solidFill>
              </a:rPr>
              <a:t>Brazil–U.S. Bridge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2446638" y="4962641"/>
            <a:ext cx="331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>
                <a:solidFill>
                  <a:srgbClr val="1B1F28"/>
                </a:solidFill>
              </a:rPr>
              <a:t>The same wallet connects users to Capital One Travel, Dining, and lounges when they land in the U.S.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6179006" y="1192204"/>
            <a:ext cx="2066544" cy="4572000"/>
          </a:xfrm>
          <a:prstGeom prst="roundRect">
            <a:avLst>
              <a:gd name="adj" fmla="val 3540"/>
            </a:avLst>
          </a:prstGeom>
          <a:solidFill>
            <a:srgbClr val="081E4B"/>
          </a:solidFill>
          <a:ln w="10160">
            <a:solidFill>
              <a:srgbClr val="081E4B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36792" y="1405114"/>
            <a:ext cx="1737360" cy="4114800"/>
          </a:xfrm>
          <a:prstGeom prst="roundRect">
            <a:avLst>
              <a:gd name="adj" fmla="val 6316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39128" y="162851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1E4B"/>
                </a:solidFill>
              </a:rPr>
              <a:t>PixPass</a:t>
            </a:r>
            <a:endParaRPr lang="en-US" sz="1600"/>
          </a:p>
        </p:txBody>
      </p:sp>
      <p:pic>
        <p:nvPicPr>
          <p:cNvPr id="28" name="Image 0" descr="/mnt/data/work_refine/ppt/media/image-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420" y="1891735"/>
            <a:ext cx="402336" cy="40233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370319" y="2386367"/>
            <a:ext cx="1512547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A6E77"/>
                </a:solidFill>
              </a:rPr>
              <a:t>Weekend trip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6A6E77"/>
                </a:solidFill>
              </a:rPr>
              <a:t>São Paulo → Rio</a:t>
            </a:r>
            <a:endParaRPr lang="en-US" sz="1200"/>
          </a:p>
        </p:txBody>
      </p:sp>
      <p:sp>
        <p:nvSpPr>
          <p:cNvPr id="30" name="Shape 27"/>
          <p:cNvSpPr/>
          <p:nvPr/>
        </p:nvSpPr>
        <p:spPr>
          <a:xfrm>
            <a:off x="6615031" y="2839468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DDF5F1"/>
          </a:solidFill>
          <a:ln w="10160">
            <a:solidFill>
              <a:srgbClr val="DD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582374" y="3040185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81E4B"/>
                </a:solidFill>
              </a:rPr>
              <a:t>Pay now via Pix</a:t>
            </a:r>
            <a:endParaRPr lang="en-US" sz="1100"/>
          </a:p>
        </p:txBody>
      </p:sp>
      <p:sp>
        <p:nvSpPr>
          <p:cNvPr id="32" name="Shape 29"/>
          <p:cNvSpPr/>
          <p:nvPr/>
        </p:nvSpPr>
        <p:spPr>
          <a:xfrm>
            <a:off x="6615031" y="3494106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8E9C8"/>
          </a:solidFill>
          <a:ln w="10160">
            <a:solidFill>
              <a:srgbClr val="F8E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589769" y="3667171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81E4B"/>
                </a:solidFill>
              </a:rPr>
              <a:t>Or split into 6x</a:t>
            </a:r>
            <a:endParaRPr lang="en-US" sz="1100"/>
          </a:p>
        </p:txBody>
      </p:sp>
      <p:sp>
        <p:nvSpPr>
          <p:cNvPr id="34" name="Shape 31"/>
          <p:cNvSpPr/>
          <p:nvPr/>
        </p:nvSpPr>
        <p:spPr>
          <a:xfrm>
            <a:off x="6615031" y="4171406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E8F1FF"/>
          </a:solidFill>
          <a:ln w="1016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600655" y="435470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81E4B"/>
                </a:solidFill>
              </a:rPr>
              <a:t>Unlock U.S. perks</a:t>
            </a:r>
            <a:endParaRPr lang="en-US" sz="1100"/>
          </a:p>
        </p:txBody>
      </p:sp>
      <p:sp>
        <p:nvSpPr>
          <p:cNvPr id="36" name="Text 33"/>
          <p:cNvSpPr/>
          <p:nvPr/>
        </p:nvSpPr>
        <p:spPr>
          <a:xfrm>
            <a:off x="6336792" y="4977820"/>
            <a:ext cx="16872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A6E77"/>
                </a:solidFill>
              </a:rPr>
              <a:t>One wallet. Two value layers.</a:t>
            </a:r>
            <a:endParaRPr lang="en-US" sz="1200"/>
          </a:p>
        </p:txBody>
      </p:sp>
      <p:sp>
        <p:nvSpPr>
          <p:cNvPr id="37" name="Shape 34"/>
          <p:cNvSpPr/>
          <p:nvPr/>
        </p:nvSpPr>
        <p:spPr>
          <a:xfrm>
            <a:off x="8394192" y="1192204"/>
            <a:ext cx="3236976" cy="4572000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10160">
            <a:solidFill>
              <a:srgbClr val="D9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691477" y="14299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C43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DISTINGUISHES IT</a:t>
            </a:r>
            <a:endParaRPr lang="en-US" sz="1600"/>
          </a:p>
        </p:txBody>
      </p:sp>
      <p:sp>
        <p:nvSpPr>
          <p:cNvPr id="40" name="Text 37"/>
          <p:cNvSpPr/>
          <p:nvPr/>
        </p:nvSpPr>
        <p:spPr>
          <a:xfrm>
            <a:off x="8714231" y="1832284"/>
            <a:ext cx="262432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generic travel card: it is a Pix-native wallet with travel as the first use case.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>
              <a:solidFill>
                <a:srgbClr val="1B1F28"/>
              </a:solidFill>
              <a:latin typeface="Aptos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Fits local behavior by combining instant payments with installment-friendly financing.</a:t>
            </a:r>
            <a:endParaRPr lang="en-US" sz="1100"/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Adapts existing Capital One assets already in market: Travel, Eno, Shopping, Dining, and lounges.</a:t>
            </a:r>
            <a:endParaRPr lang="en-US" sz="1100"/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strongest differentiator is cross-border continuity: the product becomes more valuable once a Brazilian customer lands in the U.S.</a:t>
            </a:r>
            <a:endParaRPr lang="en-US" sz="1100"/>
          </a:p>
        </p:txBody>
      </p:sp>
      <p:sp>
        <p:nvSpPr>
          <p:cNvPr id="47" name="Shape 44"/>
          <p:cNvSpPr/>
          <p:nvPr/>
        </p:nvSpPr>
        <p:spPr>
          <a:xfrm>
            <a:off x="8691477" y="4802778"/>
            <a:ext cx="2697480" cy="420624"/>
          </a:xfrm>
          <a:prstGeom prst="roundRect">
            <a:avLst/>
          </a:prstGeom>
          <a:solidFill>
            <a:srgbClr val="081E4B"/>
          </a:solidFill>
          <a:ln w="12700">
            <a:solidFill>
              <a:srgbClr val="081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8782917" y="496149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Not a card export — a local rail and a global ecosystem.</a:t>
            </a:r>
            <a:endParaRPr lang="en-US" sz="1100"/>
          </a:p>
        </p:txBody>
      </p:sp>
      <p:sp>
        <p:nvSpPr>
          <p:cNvPr id="49" name="Text 46"/>
          <p:cNvSpPr/>
          <p:nvPr/>
        </p:nvSpPr>
        <p:spPr>
          <a:xfrm>
            <a:off x="502920" y="665683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Fact Pack pp. 7–8, 13; Trade.gov on Brazil–U.S. corridor; user-pasted product logic.</a:t>
            </a:r>
            <a:endParaRPr lang="en-US" sz="73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0080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91440" tIns="45720" rIns="91440" bIns="45720" anchor="t"/>
          <a:lstStyle>
            <a:lvl1pPr>
              <a:defRPr sz="800">
                <a:solidFill>
                  <a:srgbClr val="8B8B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sz="1400" b="0" dirty="0"/>
              <a:t>6</a:t>
            </a:fld>
            <a:endParaRPr lang="en-US" sz="140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D3F7EF6-F8CD-095B-FC31-F00451004B7C}"/>
              </a:ext>
            </a:extLst>
          </p:cNvPr>
          <p:cNvSpPr/>
          <p:nvPr/>
        </p:nvSpPr>
        <p:spPr>
          <a:xfrm>
            <a:off x="522179" y="6145828"/>
            <a:ext cx="11064240" cy="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D1D86479-F915-F54F-1B83-D30B01F77512}"/>
              </a:ext>
            </a:extLst>
          </p:cNvPr>
          <p:cNvSpPr/>
          <p:nvPr/>
        </p:nvSpPr>
        <p:spPr>
          <a:xfrm>
            <a:off x="998179" y="4646039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/>
          </a:p>
        </p:txBody>
      </p:sp>
      <p:sp>
        <p:nvSpPr>
          <p:cNvPr id="44" name="Rounded Rectangle 41">
            <a:extLst>
              <a:ext uri="{FF2B5EF4-FFF2-40B4-BE49-F238E27FC236}">
                <a16:creationId xmlns:a16="http://schemas.microsoft.com/office/drawing/2014/main" id="{7F550979-64C0-984D-28C4-617D58ED7DA7}"/>
              </a:ext>
            </a:extLst>
          </p:cNvPr>
          <p:cNvSpPr/>
          <p:nvPr/>
        </p:nvSpPr>
        <p:spPr>
          <a:xfrm>
            <a:off x="5867728" y="6190923"/>
            <a:ext cx="1216896" cy="404513"/>
          </a:xfrm>
          <a:prstGeom prst="roundRect">
            <a:avLst/>
          </a:prstGeom>
          <a:solidFill>
            <a:srgbClr val="002060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Apto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 Explained</a:t>
            </a:r>
            <a:endParaRPr lang="en-US" sz="900">
              <a:solidFill>
                <a:schemeClr val="bg1"/>
              </a:solidFill>
              <a:latin typeface="Aptos"/>
            </a:endParaRPr>
          </a:p>
        </p:txBody>
      </p:sp>
      <p:sp>
        <p:nvSpPr>
          <p:cNvPr id="50" name="Rounded Rectangle 42">
            <a:extLst>
              <a:ext uri="{FF2B5EF4-FFF2-40B4-BE49-F238E27FC236}">
                <a16:creationId xmlns:a16="http://schemas.microsoft.com/office/drawing/2014/main" id="{365B71CF-639F-1CDC-9A4E-3F65440119BF}"/>
              </a:ext>
            </a:extLst>
          </p:cNvPr>
          <p:cNvSpPr/>
          <p:nvPr/>
        </p:nvSpPr>
        <p:spPr>
          <a:xfrm>
            <a:off x="7130344" y="6190923"/>
            <a:ext cx="950338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Regulations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52" name="Rounded Rectangle 43">
            <a:extLst>
              <a:ext uri="{FF2B5EF4-FFF2-40B4-BE49-F238E27FC236}">
                <a16:creationId xmlns:a16="http://schemas.microsoft.com/office/drawing/2014/main" id="{3FF10F10-2CD3-A64F-A3C2-79264F64EDB6}"/>
              </a:ext>
            </a:extLst>
          </p:cNvPr>
          <p:cNvSpPr/>
          <p:nvPr/>
        </p:nvSpPr>
        <p:spPr>
          <a:xfrm>
            <a:off x="8126403" y="6190923"/>
            <a:ext cx="985106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Pros &amp; Cons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54" name="Rounded Rectangle 44">
            <a:extLst>
              <a:ext uri="{FF2B5EF4-FFF2-40B4-BE49-F238E27FC236}">
                <a16:creationId xmlns:a16="http://schemas.microsoft.com/office/drawing/2014/main" id="{B29C34AE-7CA0-5862-CBA5-D3DAD2D5B308}"/>
              </a:ext>
            </a:extLst>
          </p:cNvPr>
          <p:cNvSpPr/>
          <p:nvPr/>
        </p:nvSpPr>
        <p:spPr>
          <a:xfrm>
            <a:off x="9157229" y="6190923"/>
            <a:ext cx="1367559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Capital One Wins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56" name="Rounded Rectangle 45">
            <a:extLst>
              <a:ext uri="{FF2B5EF4-FFF2-40B4-BE49-F238E27FC236}">
                <a16:creationId xmlns:a16="http://schemas.microsoft.com/office/drawing/2014/main" id="{EF02E742-695C-B511-7755-39C2C9DCA4A5}"/>
              </a:ext>
            </a:extLst>
          </p:cNvPr>
          <p:cNvSpPr/>
          <p:nvPr/>
        </p:nvSpPr>
        <p:spPr>
          <a:xfrm>
            <a:off x="10570509" y="6190923"/>
            <a:ext cx="63742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58" name="Rounded Rectangle 42">
            <a:extLst>
              <a:ext uri="{FF2B5EF4-FFF2-40B4-BE49-F238E27FC236}">
                <a16:creationId xmlns:a16="http://schemas.microsoft.com/office/drawing/2014/main" id="{D480C00E-FDAE-CA54-BE0A-B566FF83F94C}"/>
              </a:ext>
            </a:extLst>
          </p:cNvPr>
          <p:cNvSpPr/>
          <p:nvPr/>
        </p:nvSpPr>
        <p:spPr>
          <a:xfrm>
            <a:off x="875211" y="6190925"/>
            <a:ext cx="1216896" cy="420839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Recommendation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64" name="Rounded Rectangle 38">
            <a:extLst>
              <a:ext uri="{FF2B5EF4-FFF2-40B4-BE49-F238E27FC236}">
                <a16:creationId xmlns:a16="http://schemas.microsoft.com/office/drawing/2014/main" id="{8195EE51-74C8-9F5B-4FB9-865D5E017B33}"/>
              </a:ext>
            </a:extLst>
          </p:cNvPr>
          <p:cNvSpPr/>
          <p:nvPr/>
        </p:nvSpPr>
        <p:spPr>
          <a:xfrm>
            <a:off x="2137827" y="6190923"/>
            <a:ext cx="927159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Brazil</a:t>
            </a:r>
            <a:endParaRPr lang="en-US" sz="900">
              <a:solidFill>
                <a:srgbClr val="808080"/>
              </a:solidFill>
              <a:latin typeface="Aptos"/>
              <a:hlinkClick r:id="rId10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68" name="Rounded Rectangle 39">
            <a:extLst>
              <a:ext uri="{FF2B5EF4-FFF2-40B4-BE49-F238E27FC236}">
                <a16:creationId xmlns:a16="http://schemas.microsoft.com/office/drawing/2014/main" id="{35D9697D-CC19-F352-5F46-1914B920BB97}"/>
              </a:ext>
            </a:extLst>
          </p:cNvPr>
          <p:cNvSpPr/>
          <p:nvPr/>
        </p:nvSpPr>
        <p:spPr>
          <a:xfrm>
            <a:off x="3110706" y="6190923"/>
            <a:ext cx="133279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Brazilians Pay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72" name="Rounded Rectangle 40">
            <a:extLst>
              <a:ext uri="{FF2B5EF4-FFF2-40B4-BE49-F238E27FC236}">
                <a16:creationId xmlns:a16="http://schemas.microsoft.com/office/drawing/2014/main" id="{FE1EE2AC-15DE-BE8C-F7D7-0353E6A4D012}"/>
              </a:ext>
            </a:extLst>
          </p:cNvPr>
          <p:cNvSpPr/>
          <p:nvPr/>
        </p:nvSpPr>
        <p:spPr>
          <a:xfrm>
            <a:off x="4489217" y="6190923"/>
            <a:ext cx="133279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Gaps PixPass Fills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521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B1F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Regulations Exist in Brazil?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530352" y="772483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6A6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regulatory picture is a reason to enter through a partner-first model — not a reason to ignore the market.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138648" y="1412725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43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REGULATORY LANDSCAPE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287754" y="2071437"/>
            <a:ext cx="2139696" cy="1714784"/>
          </a:xfrm>
          <a:prstGeom prst="roundRect">
            <a:avLst>
              <a:gd name="adj" fmla="val 3704"/>
            </a:avLst>
          </a:prstGeom>
          <a:solidFill>
            <a:srgbClr val="E8F1FF"/>
          </a:solidFill>
          <a:ln w="10160">
            <a:solidFill>
              <a:srgbClr val="FFFFFF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9778" y="2289337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B1F28"/>
                </a:solidFill>
              </a:rPr>
              <a:t>BCB Licensing / SCD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391209" y="2607095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>
                <a:solidFill>
                  <a:srgbClr val="1B1F28"/>
                </a:solidFill>
              </a:rPr>
              <a:t>To offer credit directly, Capital One would likely need an authorized local structure or a licensed partner. Partner-first is a regulatory rationale, not just an operating preference.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2610968" y="2067452"/>
            <a:ext cx="2139696" cy="1721973"/>
          </a:xfrm>
          <a:prstGeom prst="roundRect">
            <a:avLst>
              <a:gd name="adj" fmla="val 3704"/>
            </a:avLst>
          </a:prstGeom>
          <a:solidFill>
            <a:srgbClr val="DDF5F1"/>
          </a:solidFill>
          <a:ln w="10160">
            <a:solidFill>
              <a:srgbClr val="FFFFFF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57272" y="2289337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B1F28"/>
                </a:solidFill>
              </a:rPr>
              <a:t>Open Finance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2757272" y="256702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>
                <a:solidFill>
                  <a:srgbClr val="1B1F28"/>
                </a:solidFill>
              </a:rPr>
              <a:t>Brazil’s Open Finance framework enables consented data sharing across institutions — a tailwind for personalized financing and smarter risk decisions.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934031" y="2067454"/>
            <a:ext cx="2139696" cy="1721972"/>
          </a:xfrm>
          <a:prstGeom prst="roundRect">
            <a:avLst>
              <a:gd name="adj" fmla="val 3704"/>
            </a:avLst>
          </a:prstGeom>
          <a:solidFill>
            <a:srgbClr val="FBE8E3"/>
          </a:solidFill>
          <a:ln w="10160">
            <a:solidFill>
              <a:srgbClr val="FFFFFF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6282" y="2289337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B1F28"/>
                </a:solidFill>
              </a:rPr>
              <a:t>LGPD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050290" y="2600469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>
                <a:solidFill>
                  <a:srgbClr val="1B1F28"/>
                </a:solidFill>
              </a:rPr>
              <a:t>Brazil’s data-protection law requires a clear legal basis, user rights, and careful handling of personal data. PixPass should launch with consent-first architecture.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1329426" y="3964245"/>
            <a:ext cx="2139696" cy="1721439"/>
          </a:xfrm>
          <a:prstGeom prst="roundRect">
            <a:avLst>
              <a:gd name="adj" fmla="val 3704"/>
            </a:avLst>
          </a:prstGeom>
          <a:solidFill>
            <a:srgbClr val="F8E9C8"/>
          </a:solidFill>
          <a:ln w="10160">
            <a:solidFill>
              <a:srgbClr val="FFFFFF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11562" y="428631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B1F28"/>
                </a:solidFill>
              </a:rPr>
              <a:t>Pix Rulebook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1460851" y="4505774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>
                <a:solidFill>
                  <a:srgbClr val="1B1F28"/>
                </a:solidFill>
              </a:rPr>
              <a:t>Pix is directly regulated by the Central Bank, which continues extending the rail with recurring and installment-style capabilities.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3740521" y="3960262"/>
            <a:ext cx="2139696" cy="1721439"/>
          </a:xfrm>
          <a:prstGeom prst="roundRect">
            <a:avLst>
              <a:gd name="adj" fmla="val 3704"/>
            </a:avLst>
          </a:prstGeom>
          <a:solidFill>
            <a:srgbClr val="E8F3E5"/>
          </a:solidFill>
          <a:ln w="10160">
            <a:solidFill>
              <a:srgbClr val="FFFFFF"/>
            </a:solidFill>
            <a:prstDash val="solid"/>
          </a:ln>
          <a:effectLst>
            <a:outerShdw blurRad="1524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32545" y="427001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B1F28"/>
                </a:solidFill>
              </a:rPr>
              <a:t>Consumer Protection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3907290" y="4505774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>
                <a:solidFill>
                  <a:srgbClr val="1B1F28"/>
                </a:solidFill>
              </a:rPr>
              <a:t>Transparent disclosures, clear cancellation rules, and readable installment terms are not overhead — they are trust signals for a new entrant.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7476950" y="3059704"/>
            <a:ext cx="4443347" cy="1572517"/>
          </a:xfrm>
          <a:prstGeom prst="roundRect">
            <a:avLst>
              <a:gd name="adj" fmla="val 5263"/>
            </a:avLst>
          </a:prstGeom>
          <a:solidFill>
            <a:srgbClr val="081E4B"/>
          </a:solidFill>
          <a:ln w="10160">
            <a:solidFill>
              <a:srgbClr val="081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10591" y="3301028"/>
            <a:ext cx="1475692" cy="161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FC4B2"/>
                </a:solidFill>
              </a:rPr>
              <a:t>Practical Answer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8000568" y="3845994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b="1">
                <a:solidFill>
                  <a:srgbClr val="FFFFFF"/>
                </a:solidFill>
              </a:rPr>
              <a:t>Enter Brazil through a local bank or fintech for regulated infrastructure. Let Capital One own the product layer, travel ecosystem, and cross-border customer value.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502920" y="665683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Fact Pack p. 14; BCB fintech / SCD, Open Finance, and Pix pages; ANPD LGPD translation.</a:t>
            </a:r>
            <a:endParaRPr lang="en-US" sz="73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0080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91440" tIns="45720" rIns="91440" bIns="45720" anchor="t"/>
          <a:lstStyle>
            <a:lvl1pPr>
              <a:defRPr sz="800">
                <a:solidFill>
                  <a:srgbClr val="8B8B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sz="1400" b="0" dirty="0"/>
              <a:t>7</a:t>
            </a:fld>
            <a:endParaRPr lang="en-US" sz="1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2CB1D2-F205-2BE6-F569-04F566BE2C7E}"/>
              </a:ext>
            </a:extLst>
          </p:cNvPr>
          <p:cNvSpPr/>
          <p:nvPr/>
        </p:nvSpPr>
        <p:spPr>
          <a:xfrm>
            <a:off x="522179" y="6145828"/>
            <a:ext cx="11064240" cy="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42">
            <a:extLst>
              <a:ext uri="{FF2B5EF4-FFF2-40B4-BE49-F238E27FC236}">
                <a16:creationId xmlns:a16="http://schemas.microsoft.com/office/drawing/2014/main" id="{0273D2F0-4290-F11B-AEE2-D34132443BAE}"/>
              </a:ext>
            </a:extLst>
          </p:cNvPr>
          <p:cNvSpPr/>
          <p:nvPr/>
        </p:nvSpPr>
        <p:spPr>
          <a:xfrm>
            <a:off x="7130344" y="6190923"/>
            <a:ext cx="950338" cy="404513"/>
          </a:xfrm>
          <a:prstGeom prst="roundRect">
            <a:avLst/>
          </a:prstGeom>
          <a:solidFill>
            <a:srgbClr val="002060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Apto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Regulations</a:t>
            </a:r>
            <a:endParaRPr lang="en-US" sz="900">
              <a:solidFill>
                <a:schemeClr val="bg1"/>
              </a:solidFill>
              <a:latin typeface="Aptos"/>
            </a:endParaRPr>
          </a:p>
        </p:txBody>
      </p:sp>
      <p:sp>
        <p:nvSpPr>
          <p:cNvPr id="31" name="Rounded Rectangle 43">
            <a:extLst>
              <a:ext uri="{FF2B5EF4-FFF2-40B4-BE49-F238E27FC236}">
                <a16:creationId xmlns:a16="http://schemas.microsoft.com/office/drawing/2014/main" id="{449ED7AE-F5CE-7E33-D7D8-B6683125936F}"/>
              </a:ext>
            </a:extLst>
          </p:cNvPr>
          <p:cNvSpPr/>
          <p:nvPr/>
        </p:nvSpPr>
        <p:spPr>
          <a:xfrm>
            <a:off x="8126403" y="6190923"/>
            <a:ext cx="985106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Pros &amp; Cons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33" name="Rounded Rectangle 44">
            <a:extLst>
              <a:ext uri="{FF2B5EF4-FFF2-40B4-BE49-F238E27FC236}">
                <a16:creationId xmlns:a16="http://schemas.microsoft.com/office/drawing/2014/main" id="{653A454D-5CF3-8C83-2385-C760C2916CDA}"/>
              </a:ext>
            </a:extLst>
          </p:cNvPr>
          <p:cNvSpPr/>
          <p:nvPr/>
        </p:nvSpPr>
        <p:spPr>
          <a:xfrm>
            <a:off x="9157229" y="6190923"/>
            <a:ext cx="1367559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Capital One Wins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35" name="Rounded Rectangle 45">
            <a:extLst>
              <a:ext uri="{FF2B5EF4-FFF2-40B4-BE49-F238E27FC236}">
                <a16:creationId xmlns:a16="http://schemas.microsoft.com/office/drawing/2014/main" id="{1C08F44C-2E6B-3001-5969-6732818B801C}"/>
              </a:ext>
            </a:extLst>
          </p:cNvPr>
          <p:cNvSpPr/>
          <p:nvPr/>
        </p:nvSpPr>
        <p:spPr>
          <a:xfrm>
            <a:off x="10570509" y="6190923"/>
            <a:ext cx="63742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37" name="Rounded Rectangle 42">
            <a:extLst>
              <a:ext uri="{FF2B5EF4-FFF2-40B4-BE49-F238E27FC236}">
                <a16:creationId xmlns:a16="http://schemas.microsoft.com/office/drawing/2014/main" id="{2BA00A85-5A5E-F248-16CD-1056F5093A67}"/>
              </a:ext>
            </a:extLst>
          </p:cNvPr>
          <p:cNvSpPr/>
          <p:nvPr/>
        </p:nvSpPr>
        <p:spPr>
          <a:xfrm>
            <a:off x="875211" y="6190925"/>
            <a:ext cx="1216896" cy="420839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Recommendation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1058FAE-8549-CD93-9C79-5134EA74C74D}"/>
              </a:ext>
            </a:extLst>
          </p:cNvPr>
          <p:cNvSpPr/>
          <p:nvPr/>
        </p:nvSpPr>
        <p:spPr>
          <a:xfrm>
            <a:off x="2137827" y="6190923"/>
            <a:ext cx="927159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Brazil</a:t>
            </a:r>
            <a:endParaRPr lang="en-US" sz="900">
              <a:solidFill>
                <a:srgbClr val="808080"/>
              </a:solidFill>
              <a:latin typeface="Aptos"/>
              <a:hlinkClick r:id="rId8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1" name="Rounded Rectangle 39">
            <a:extLst>
              <a:ext uri="{FF2B5EF4-FFF2-40B4-BE49-F238E27FC236}">
                <a16:creationId xmlns:a16="http://schemas.microsoft.com/office/drawing/2014/main" id="{B312054F-9BA6-832B-A1BD-32D217280960}"/>
              </a:ext>
            </a:extLst>
          </p:cNvPr>
          <p:cNvSpPr/>
          <p:nvPr/>
        </p:nvSpPr>
        <p:spPr>
          <a:xfrm>
            <a:off x="3110706" y="6190923"/>
            <a:ext cx="133279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Brazilians Pay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3" name="Rounded Rectangle 40">
            <a:extLst>
              <a:ext uri="{FF2B5EF4-FFF2-40B4-BE49-F238E27FC236}">
                <a16:creationId xmlns:a16="http://schemas.microsoft.com/office/drawing/2014/main" id="{BA902986-9ABF-DB6C-0C1D-A858B161CD6D}"/>
              </a:ext>
            </a:extLst>
          </p:cNvPr>
          <p:cNvSpPr/>
          <p:nvPr/>
        </p:nvSpPr>
        <p:spPr>
          <a:xfrm>
            <a:off x="4489217" y="6190923"/>
            <a:ext cx="133279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Gaps PixPass Fills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5" name="Rounded Rectangle 41">
            <a:extLst>
              <a:ext uri="{FF2B5EF4-FFF2-40B4-BE49-F238E27FC236}">
                <a16:creationId xmlns:a16="http://schemas.microsoft.com/office/drawing/2014/main" id="{5FB01EBE-FBE7-D59D-172C-AF559EBC15A3}"/>
              </a:ext>
            </a:extLst>
          </p:cNvPr>
          <p:cNvSpPr/>
          <p:nvPr/>
        </p:nvSpPr>
        <p:spPr>
          <a:xfrm>
            <a:off x="5867728" y="6190923"/>
            <a:ext cx="1216896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 Explained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521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B1F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Pros and Cons of Launching in Brazil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527633" y="66751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6A6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 is compelling, but the strongest recommendation is the one that also names the risks and shows how to manage them.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245745" y="153547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43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ASSESSMENT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566928" y="2033149"/>
            <a:ext cx="4313682" cy="3061412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0160">
            <a:solidFill>
              <a:srgbClr val="D9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6914" y="2029968"/>
            <a:ext cx="3838194" cy="3097530"/>
          </a:xfrm>
          <a:prstGeom prst="roundRect">
            <a:avLst>
              <a:gd name="adj" fmla="val 2623"/>
            </a:avLst>
          </a:prstGeom>
          <a:solidFill>
            <a:srgbClr val="FFFDF9"/>
          </a:solidFill>
          <a:ln w="10160">
            <a:solidFill>
              <a:srgbClr val="D9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025128" y="1234440"/>
            <a:ext cx="2615184" cy="4178808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0160">
            <a:solidFill>
              <a:srgbClr val="D9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243744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5A8F4C"/>
                </a:solidFill>
              </a:rPr>
              <a:t>Pros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891540" y="2563784"/>
            <a:ext cx="3829050" cy="2605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 adoption is already massive, so Capital One does not need to subsidize new payment behavior.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>
              <a:solidFill>
                <a:srgbClr val="1B1F28"/>
              </a:solidFill>
              <a:latin typeface="Aptos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Installment culture fits travel naturally, making financing feel local rather than imposed.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>
              <a:solidFill>
                <a:srgbClr val="1B1F28"/>
              </a:solidFill>
              <a:latin typeface="Aptos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Finance can improve personalization at launch.</a:t>
            </a:r>
            <a:endParaRPr lang="en-US" sz="1100"/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Brazil is already a major source market for U.S. tourism, creating a differentiated cross-border wedge.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>
              <a:solidFill>
                <a:srgbClr val="1B1F28"/>
              </a:solidFill>
              <a:latin typeface="Aptos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provides a visible acquisition story instead of launching as a generic payments app.</a:t>
            </a:r>
            <a:endParaRPr lang="en-US" sz="1100"/>
          </a:p>
          <a:p>
            <a:endParaRPr lang="en-US" sz="980"/>
          </a:p>
          <a:p>
            <a:pPr marL="0" indent="0">
              <a:buNone/>
            </a:pPr>
            <a:endParaRPr lang="en-US" sz="980"/>
          </a:p>
        </p:txBody>
      </p:sp>
      <p:sp>
        <p:nvSpPr>
          <p:cNvPr id="19" name="Text 17"/>
          <p:cNvSpPr/>
          <p:nvPr/>
        </p:nvSpPr>
        <p:spPr>
          <a:xfrm>
            <a:off x="5186934" y="2141192"/>
            <a:ext cx="1266011" cy="357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4383A"/>
                </a:solidFill>
              </a:rPr>
              <a:t>Cons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5515684" y="2498335"/>
            <a:ext cx="3253411" cy="2301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fintech competition is intense.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>
              <a:solidFill>
                <a:srgbClr val="1B1F28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credit risk can rise fast if installment underwriting is too loose.</a:t>
            </a:r>
            <a:endParaRPr lang="en-US" sz="1100"/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>
              <a:solidFill>
                <a:srgbClr val="1B1F28"/>
              </a:solidFill>
              <a:latin typeface="Aptos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LGPD and data-handling rules add operational complexity.</a:t>
            </a:r>
            <a:endParaRPr lang="en-US" sz="1100"/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Revenues would be BRL-denominated while Capital One reports in USD.</a:t>
            </a:r>
            <a:endParaRPr lang="en-US" sz="1100"/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awareness is low without a local partner’s distribution.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9102957" y="1493237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81E4B"/>
                </a:solidFill>
              </a:rPr>
              <a:t>Mitigations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9230868" y="1912053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E8F1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331603" y="2133156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B1F28"/>
                </a:solidFill>
              </a:rPr>
              <a:t>Partner-led launch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9221199" y="2763296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DDF5F1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331603" y="2960425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B1F28"/>
                </a:solidFill>
              </a:rPr>
              <a:t>Fixed-term installment rules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9234408" y="3685032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E8F1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345168" y="3891903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B1F28"/>
                </a:solidFill>
              </a:rPr>
              <a:t>Brazil–U.S. corridor wedge</a:t>
            </a:r>
            <a:endParaRPr lang="en-US" sz="1100"/>
          </a:p>
        </p:txBody>
      </p:sp>
      <p:sp>
        <p:nvSpPr>
          <p:cNvPr id="37" name="Shape 35"/>
          <p:cNvSpPr/>
          <p:nvPr/>
        </p:nvSpPr>
        <p:spPr>
          <a:xfrm>
            <a:off x="9230868" y="4559982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DDF5F1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287858" y="479999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B1F28"/>
                </a:solidFill>
              </a:rPr>
              <a:t>São Paulo / Rio pilot first</a:t>
            </a:r>
            <a:endParaRPr lang="en-US" sz="1100"/>
          </a:p>
        </p:txBody>
      </p:sp>
      <p:sp>
        <p:nvSpPr>
          <p:cNvPr id="39" name="Shape 37"/>
          <p:cNvSpPr/>
          <p:nvPr/>
        </p:nvSpPr>
        <p:spPr>
          <a:xfrm>
            <a:off x="822960" y="5650992"/>
            <a:ext cx="10570464" cy="329184"/>
          </a:xfrm>
          <a:prstGeom prst="roundRect">
            <a:avLst/>
          </a:prstGeom>
          <a:solidFill>
            <a:srgbClr val="081E4B"/>
          </a:solidFill>
          <a:ln w="12700">
            <a:solidFill>
              <a:srgbClr val="081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18685" y="5760720"/>
            <a:ext cx="10149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Bottom line: the risks point to a phased, partner-led launch — not to avoiding the market entirely.</a:t>
            </a:r>
            <a:endParaRPr lang="en-US" sz="1200"/>
          </a:p>
        </p:txBody>
      </p:sp>
      <p:sp>
        <p:nvSpPr>
          <p:cNvPr id="41" name="Text 39"/>
          <p:cNvSpPr/>
          <p:nvPr/>
        </p:nvSpPr>
        <p:spPr>
          <a:xfrm>
            <a:off x="502920" y="665683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BCB Pix / Open Finance pages; Trade.gov on Brazil–U.S. travel; user-pasted pros/cons framing.</a:t>
            </a:r>
            <a:endParaRPr lang="en-US" sz="73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0080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91440" tIns="45720" rIns="91440" bIns="45720" anchor="t"/>
          <a:lstStyle>
            <a:lvl1pPr>
              <a:defRPr sz="800">
                <a:solidFill>
                  <a:srgbClr val="8B8B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sz="1400" b="0" dirty="0"/>
              <a:t>8</a:t>
            </a:fld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5661B78-E8AB-2932-8051-8A33224BC49C}"/>
              </a:ext>
            </a:extLst>
          </p:cNvPr>
          <p:cNvSpPr/>
          <p:nvPr/>
        </p:nvSpPr>
        <p:spPr>
          <a:xfrm>
            <a:off x="522179" y="6145828"/>
            <a:ext cx="11064240" cy="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43">
            <a:extLst>
              <a:ext uri="{FF2B5EF4-FFF2-40B4-BE49-F238E27FC236}">
                <a16:creationId xmlns:a16="http://schemas.microsoft.com/office/drawing/2014/main" id="{FD6F2C07-10BC-22A5-8BAC-329A8BE6D04C}"/>
              </a:ext>
            </a:extLst>
          </p:cNvPr>
          <p:cNvSpPr/>
          <p:nvPr/>
        </p:nvSpPr>
        <p:spPr>
          <a:xfrm>
            <a:off x="8126403" y="6190923"/>
            <a:ext cx="985106" cy="404513"/>
          </a:xfrm>
          <a:prstGeom prst="roundRect">
            <a:avLst/>
          </a:prstGeom>
          <a:solidFill>
            <a:srgbClr val="002060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Apto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Pros &amp; Cons</a:t>
            </a:r>
            <a:endParaRPr lang="en-US" sz="900">
              <a:solidFill>
                <a:schemeClr val="bg1"/>
              </a:solidFill>
              <a:latin typeface="Aptos"/>
            </a:endParaRPr>
          </a:p>
        </p:txBody>
      </p:sp>
      <p:sp>
        <p:nvSpPr>
          <p:cNvPr id="20" name="Rounded Rectangle 44">
            <a:extLst>
              <a:ext uri="{FF2B5EF4-FFF2-40B4-BE49-F238E27FC236}">
                <a16:creationId xmlns:a16="http://schemas.microsoft.com/office/drawing/2014/main" id="{15262F5F-EA86-D37F-5468-676034F24C18}"/>
              </a:ext>
            </a:extLst>
          </p:cNvPr>
          <p:cNvSpPr/>
          <p:nvPr/>
        </p:nvSpPr>
        <p:spPr>
          <a:xfrm>
            <a:off x="9157229" y="6190923"/>
            <a:ext cx="1367559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Capital One Wins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24" name="Rounded Rectangle 45">
            <a:extLst>
              <a:ext uri="{FF2B5EF4-FFF2-40B4-BE49-F238E27FC236}">
                <a16:creationId xmlns:a16="http://schemas.microsoft.com/office/drawing/2014/main" id="{0039557B-B81C-9787-EEDC-6DAFC7484442}"/>
              </a:ext>
            </a:extLst>
          </p:cNvPr>
          <p:cNvSpPr/>
          <p:nvPr/>
        </p:nvSpPr>
        <p:spPr>
          <a:xfrm>
            <a:off x="10570509" y="6190923"/>
            <a:ext cx="63742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28" name="Rounded Rectangle 42">
            <a:extLst>
              <a:ext uri="{FF2B5EF4-FFF2-40B4-BE49-F238E27FC236}">
                <a16:creationId xmlns:a16="http://schemas.microsoft.com/office/drawing/2014/main" id="{C5435429-15DA-6011-2983-2A78A57DEE48}"/>
              </a:ext>
            </a:extLst>
          </p:cNvPr>
          <p:cNvSpPr/>
          <p:nvPr/>
        </p:nvSpPr>
        <p:spPr>
          <a:xfrm>
            <a:off x="875211" y="6190925"/>
            <a:ext cx="1216896" cy="420839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Recommendation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3" name="Rounded Rectangle 38">
            <a:extLst>
              <a:ext uri="{FF2B5EF4-FFF2-40B4-BE49-F238E27FC236}">
                <a16:creationId xmlns:a16="http://schemas.microsoft.com/office/drawing/2014/main" id="{ACF5F259-B3B1-BE18-2E02-FC7F094CA47C}"/>
              </a:ext>
            </a:extLst>
          </p:cNvPr>
          <p:cNvSpPr/>
          <p:nvPr/>
        </p:nvSpPr>
        <p:spPr>
          <a:xfrm>
            <a:off x="2137827" y="6190923"/>
            <a:ext cx="927159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Brazil</a:t>
            </a:r>
            <a:endParaRPr lang="en-US" sz="900">
              <a:solidFill>
                <a:srgbClr val="808080"/>
              </a:solidFill>
              <a:latin typeface="Aptos"/>
              <a:hlinkClick r:id="rId7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5" name="Rounded Rectangle 39">
            <a:extLst>
              <a:ext uri="{FF2B5EF4-FFF2-40B4-BE49-F238E27FC236}">
                <a16:creationId xmlns:a16="http://schemas.microsoft.com/office/drawing/2014/main" id="{70717ACE-2BEB-0CB1-433A-9E1FF9D82209}"/>
              </a:ext>
            </a:extLst>
          </p:cNvPr>
          <p:cNvSpPr/>
          <p:nvPr/>
        </p:nvSpPr>
        <p:spPr>
          <a:xfrm>
            <a:off x="3110706" y="6190923"/>
            <a:ext cx="133279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Brazilians Pay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7" name="Rounded Rectangle 40">
            <a:extLst>
              <a:ext uri="{FF2B5EF4-FFF2-40B4-BE49-F238E27FC236}">
                <a16:creationId xmlns:a16="http://schemas.microsoft.com/office/drawing/2014/main" id="{775ADAC8-CEC5-5D1A-B94A-D56DFDD31E7F}"/>
              </a:ext>
            </a:extLst>
          </p:cNvPr>
          <p:cNvSpPr/>
          <p:nvPr/>
        </p:nvSpPr>
        <p:spPr>
          <a:xfrm>
            <a:off x="4489217" y="6190923"/>
            <a:ext cx="133279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Gaps PixPass Fills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49" name="Rounded Rectangle 41">
            <a:extLst>
              <a:ext uri="{FF2B5EF4-FFF2-40B4-BE49-F238E27FC236}">
                <a16:creationId xmlns:a16="http://schemas.microsoft.com/office/drawing/2014/main" id="{24F9FC0B-4C17-9F04-90CA-CFFF2EC2858E}"/>
              </a:ext>
            </a:extLst>
          </p:cNvPr>
          <p:cNvSpPr/>
          <p:nvPr/>
        </p:nvSpPr>
        <p:spPr>
          <a:xfrm>
            <a:off x="5867728" y="6190923"/>
            <a:ext cx="1216896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 Explained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51" name="Rounded Rectangle 42">
            <a:extLst>
              <a:ext uri="{FF2B5EF4-FFF2-40B4-BE49-F238E27FC236}">
                <a16:creationId xmlns:a16="http://schemas.microsoft.com/office/drawing/2014/main" id="{AC5BA4B9-60CF-A290-7B1F-D9D4243980CD}"/>
              </a:ext>
            </a:extLst>
          </p:cNvPr>
          <p:cNvSpPr/>
          <p:nvPr/>
        </p:nvSpPr>
        <p:spPr>
          <a:xfrm>
            <a:off x="7130344" y="6190923"/>
            <a:ext cx="950338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Regulations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219456"/>
            <a:ext cx="114337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B1F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Capital One is Well-Positioned to Win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521208" y="658368"/>
            <a:ext cx="1141541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6A6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moat is not just the wallet. It is the cross-border continuity local Brazilian players cannot easily replicate.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589788" y="1278171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43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UNFAIR ADVANTAGE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507492" y="1676762"/>
            <a:ext cx="2117592" cy="3883575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D9D4CC"/>
            </a:solidFill>
            <a:prstDash val="solid"/>
          </a:ln>
        </p:spPr>
        <p:txBody>
          <a:bodyPr lIns="91440" tIns="45720" rIns="91440" bIns="45720" anchor="t"/>
          <a:lstStyle/>
          <a:p>
            <a:pPr algn="ctr"/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C4383A"/>
                </a:solidFill>
              </a:rPr>
              <a:t>What local competitors can build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77028" y="2544955"/>
            <a:ext cx="1787435" cy="309375"/>
          </a:xfrm>
          <a:prstGeom prst="roundRect">
            <a:avLst>
              <a:gd name="adj" fmla="val 21053"/>
            </a:avLst>
          </a:prstGeom>
          <a:solidFill>
            <a:srgbClr val="F6F4F0"/>
          </a:solidFill>
          <a:ln w="10160">
            <a:solidFill>
              <a:srgbClr val="E6E1D8"/>
            </a:solidFill>
            <a:prstDash val="solid"/>
          </a:ln>
        </p:spPr>
        <p:txBody>
          <a:bodyPr lIns="91440" tIns="45720" rIns="91440" bIns="45720" anchor="t"/>
          <a:lstStyle/>
          <a:p>
            <a:pPr algn="ctr"/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6277" y="2699153"/>
            <a:ext cx="1686252" cy="68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B1F28"/>
                </a:solidFill>
              </a:rPr>
              <a:t>Pix checkout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684930" y="3090114"/>
            <a:ext cx="1787434" cy="331143"/>
          </a:xfrm>
          <a:prstGeom prst="roundRect">
            <a:avLst>
              <a:gd name="adj" fmla="val 21053"/>
            </a:avLst>
          </a:prstGeom>
          <a:solidFill>
            <a:srgbClr val="F6F4F0"/>
          </a:solidFill>
          <a:ln w="10160">
            <a:solidFill>
              <a:srgbClr val="E6E1D8"/>
            </a:solidFill>
            <a:prstDash val="solid"/>
          </a:ln>
        </p:spPr>
        <p:txBody>
          <a:bodyPr lIns="91440" tIns="45720" rIns="91440" bIns="45720" anchor="t"/>
          <a:lstStyle/>
          <a:p>
            <a:pPr algn="ctr"/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4016" y="3223565"/>
            <a:ext cx="1732434" cy="4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B1F28"/>
                </a:solidFill>
              </a:rPr>
              <a:t>Installment UX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690372" y="3605334"/>
            <a:ext cx="1781556" cy="314816"/>
          </a:xfrm>
          <a:prstGeom prst="roundRect">
            <a:avLst>
              <a:gd name="adj" fmla="val 21053"/>
            </a:avLst>
          </a:prstGeom>
          <a:solidFill>
            <a:srgbClr val="F6F4F0"/>
          </a:solidFill>
          <a:ln w="10160">
            <a:solidFill>
              <a:srgbClr val="E6E1D8"/>
            </a:solidFill>
            <a:prstDash val="solid"/>
          </a:ln>
        </p:spPr>
        <p:txBody>
          <a:bodyPr lIns="91440" tIns="45720" rIns="91440" bIns="45720" anchor="t"/>
          <a:lstStyle/>
          <a:p>
            <a:pPr algn="ctr"/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1920" y="3722465"/>
            <a:ext cx="1732433" cy="106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B1F28"/>
                </a:solidFill>
              </a:rPr>
              <a:t>Local merchant offers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682676" y="4134493"/>
            <a:ext cx="1790776" cy="339776"/>
          </a:xfrm>
          <a:prstGeom prst="roundRect">
            <a:avLst>
              <a:gd name="adj" fmla="val 21053"/>
            </a:avLst>
          </a:prstGeom>
          <a:solidFill>
            <a:srgbClr val="F6F4F0"/>
          </a:solidFill>
          <a:ln w="10160">
            <a:solidFill>
              <a:srgbClr val="E6E1D8"/>
            </a:solidFill>
            <a:prstDash val="solid"/>
          </a:ln>
        </p:spPr>
        <p:txBody>
          <a:bodyPr lIns="91440" tIns="45720" rIns="91440" bIns="45720" anchor="t"/>
          <a:lstStyle/>
          <a:p>
            <a:pPr algn="ctr"/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0930" y="4222953"/>
            <a:ext cx="1813343" cy="11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B1F28"/>
                </a:solidFill>
              </a:rPr>
              <a:t>Portuguese app experience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671956" y="4715586"/>
            <a:ext cx="1821039" cy="349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A6E77"/>
                </a:solidFill>
              </a:rPr>
              <a:t>Strong domestically — but still mostly domestic.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2806297" y="1681048"/>
            <a:ext cx="5653887" cy="3878965"/>
          </a:xfrm>
          <a:prstGeom prst="roundRect">
            <a:avLst>
              <a:gd name="adj" fmla="val 1905"/>
            </a:avLst>
          </a:prstGeom>
          <a:solidFill>
            <a:srgbClr val="FFFDF9"/>
          </a:solidFill>
          <a:ln w="10160">
            <a:solidFill>
              <a:srgbClr val="D9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17034" y="1746548"/>
            <a:ext cx="1097280" cy="1097280"/>
          </a:xfrm>
          <a:prstGeom prst="ellipse">
            <a:avLst/>
          </a:prstGeom>
          <a:solidFill>
            <a:srgbClr val="2FC4B2"/>
          </a:solidFill>
          <a:ln w="12700">
            <a:solidFill>
              <a:srgbClr val="2FC4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25374" y="21579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81E4B"/>
                </a:solidFill>
              </a:rPr>
              <a:t>Brazil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081E4B"/>
                </a:solidFill>
              </a:rPr>
              <a:t>Rail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4075697" y="2129091"/>
            <a:ext cx="3239503" cy="329184"/>
          </a:xfrm>
          <a:prstGeom prst="chevron">
            <a:avLst/>
          </a:prstGeom>
          <a:solidFill>
            <a:srgbClr val="081E4B"/>
          </a:solidFill>
          <a:ln w="12700">
            <a:solidFill>
              <a:srgbClr val="081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45257" y="1726968"/>
            <a:ext cx="1097280" cy="1097280"/>
          </a:xfrm>
          <a:prstGeom prst="ellipse">
            <a:avLst/>
          </a:prstGeom>
          <a:solidFill>
            <a:srgbClr val="C4383A"/>
          </a:solidFill>
          <a:ln w="12700">
            <a:solidFill>
              <a:srgbClr val="C438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06640" y="209200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U.S.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Assets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3929640" y="2189988"/>
            <a:ext cx="617539" cy="219456"/>
          </a:xfrm>
          <a:prstGeom prst="roundRect">
            <a:avLst>
              <a:gd name="adj" fmla="val 33333"/>
            </a:avLst>
          </a:prstGeom>
          <a:solidFill>
            <a:srgbClr val="E8F1FF"/>
          </a:solidFill>
          <a:ln w="1016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17643" y="2256594"/>
            <a:ext cx="6949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B1F28"/>
                </a:solidFill>
              </a:rPr>
              <a:t>Travel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4646470" y="2183442"/>
            <a:ext cx="531646" cy="219456"/>
          </a:xfrm>
          <a:prstGeom prst="roundRect">
            <a:avLst>
              <a:gd name="adj" fmla="val 33333"/>
            </a:avLst>
          </a:prstGeom>
          <a:solidFill>
            <a:srgbClr val="E8F1FF"/>
          </a:solidFill>
          <a:ln w="1016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62185" y="2256594"/>
            <a:ext cx="6949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B1F28"/>
                </a:solidFill>
              </a:rPr>
              <a:t>Eno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5258648" y="2176272"/>
            <a:ext cx="723675" cy="219456"/>
          </a:xfrm>
          <a:prstGeom prst="roundRect">
            <a:avLst>
              <a:gd name="adj" fmla="val 33333"/>
            </a:avLst>
          </a:prstGeom>
          <a:solidFill>
            <a:srgbClr val="E8F1FF"/>
          </a:solidFill>
          <a:ln w="10160">
            <a:solidFill>
              <a:srgbClr val="E8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91012" y="2254484"/>
            <a:ext cx="6949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B1F28"/>
                </a:solidFill>
              </a:rPr>
              <a:t>Shopping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6073459" y="2183442"/>
            <a:ext cx="617538" cy="219456"/>
          </a:xfrm>
          <a:prstGeom prst="roundRect">
            <a:avLst>
              <a:gd name="adj" fmla="val 33333"/>
            </a:avLst>
          </a:prstGeom>
          <a:solidFill>
            <a:srgbClr val="DDF5F1"/>
          </a:solidFill>
          <a:ln w="10160">
            <a:solidFill>
              <a:srgbClr val="DD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30765" y="2251436"/>
            <a:ext cx="6949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B1F28"/>
                </a:solidFill>
              </a:rPr>
              <a:t>Dining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3803904" y="3127247"/>
            <a:ext cx="3840480" cy="10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1B1F28"/>
                </a:solidFill>
              </a:rPr>
              <a:t>Capital One already owns the hardest part of the value proposition: the travel experiences a Brazilian user wants once abroad.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3414319" y="4590288"/>
            <a:ext cx="4580389" cy="640080"/>
          </a:xfrm>
          <a:prstGeom prst="roundRect">
            <a:avLst/>
          </a:prstGeom>
          <a:solidFill>
            <a:srgbClr val="081E4B"/>
          </a:solidFill>
          <a:ln w="12700">
            <a:solidFill>
              <a:srgbClr val="081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75444" y="4859364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That cross-border continuity is the moat.</a:t>
            </a:r>
            <a:endParaRPr lang="en-US" sz="1600"/>
          </a:p>
        </p:txBody>
      </p:sp>
      <p:sp>
        <p:nvSpPr>
          <p:cNvPr id="35" name="Shape 33"/>
          <p:cNvSpPr/>
          <p:nvPr/>
        </p:nvSpPr>
        <p:spPr>
          <a:xfrm>
            <a:off x="8705928" y="1680863"/>
            <a:ext cx="2972871" cy="3878966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0160">
            <a:solidFill>
              <a:srgbClr val="D9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159856" y="188157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81E4B"/>
                </a:solidFill>
              </a:rPr>
              <a:t>Near-Term Path To Market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8827887" y="2148856"/>
            <a:ext cx="256032" cy="256032"/>
          </a:xfrm>
          <a:prstGeom prst="ellipse">
            <a:avLst/>
          </a:prstGeom>
          <a:solidFill>
            <a:srgbClr val="2FC4B2"/>
          </a:solidFill>
          <a:ln w="12700">
            <a:solidFill>
              <a:srgbClr val="2FC4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827887" y="2168945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9177925" y="2484704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1F28"/>
                </a:solidFill>
              </a:rPr>
              <a:t>Pilot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9597995" y="2633225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>
                <a:solidFill>
                  <a:srgbClr val="1B1F28"/>
                </a:solidFill>
              </a:rPr>
              <a:t>São Paulo + Rio with local partner and core Pix checkout.</a:t>
            </a:r>
            <a:endParaRPr lang="en-US" sz="1100"/>
          </a:p>
        </p:txBody>
      </p:sp>
      <p:sp>
        <p:nvSpPr>
          <p:cNvPr id="41" name="Shape 39"/>
          <p:cNvSpPr/>
          <p:nvPr/>
        </p:nvSpPr>
        <p:spPr>
          <a:xfrm>
            <a:off x="8842248" y="2928604"/>
            <a:ext cx="256032" cy="256032"/>
          </a:xfrm>
          <a:prstGeom prst="ellipse">
            <a:avLst/>
          </a:prstGeom>
          <a:solidFill>
            <a:srgbClr val="E1A235"/>
          </a:solidFill>
          <a:ln w="12700">
            <a:solidFill>
              <a:srgbClr val="E1A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835334" y="2949109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/>
          </a:p>
        </p:txBody>
      </p:sp>
      <p:sp>
        <p:nvSpPr>
          <p:cNvPr id="43" name="Text 41"/>
          <p:cNvSpPr/>
          <p:nvPr/>
        </p:nvSpPr>
        <p:spPr>
          <a:xfrm>
            <a:off x="9177925" y="3299438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1F28"/>
                </a:solidFill>
              </a:rPr>
              <a:t>Launch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9597995" y="3500345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>
                <a:solidFill>
                  <a:srgbClr val="1B1F28"/>
                </a:solidFill>
              </a:rPr>
              <a:t>Travel-led acquisition, starting with Brazil–U.S. corridor users.</a:t>
            </a:r>
            <a:endParaRPr lang="en-US" sz="1100"/>
          </a:p>
        </p:txBody>
      </p:sp>
      <p:sp>
        <p:nvSpPr>
          <p:cNvPr id="45" name="Shape 43"/>
          <p:cNvSpPr/>
          <p:nvPr/>
        </p:nvSpPr>
        <p:spPr>
          <a:xfrm>
            <a:off x="8841755" y="3752156"/>
            <a:ext cx="256032" cy="256032"/>
          </a:xfrm>
          <a:prstGeom prst="ellipse">
            <a:avLst/>
          </a:prstGeom>
          <a:solidFill>
            <a:srgbClr val="C4383A"/>
          </a:solidFill>
          <a:ln w="12700">
            <a:solidFill>
              <a:srgbClr val="C438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841755" y="3724839"/>
            <a:ext cx="256032" cy="351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/>
          </a:p>
        </p:txBody>
      </p:sp>
      <p:sp>
        <p:nvSpPr>
          <p:cNvPr id="47" name="Text 45"/>
          <p:cNvSpPr/>
          <p:nvPr/>
        </p:nvSpPr>
        <p:spPr>
          <a:xfrm>
            <a:off x="9177925" y="4131733"/>
            <a:ext cx="676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1F28"/>
                </a:solidFill>
              </a:rPr>
              <a:t>Scale</a:t>
            </a:r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9575742" y="43783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B1F28"/>
                </a:solidFill>
              </a:rPr>
              <a:t>Add Open Finance, deeper perks, and wider domestic coverage.</a:t>
            </a:r>
            <a:endParaRPr lang="en-US" sz="1100"/>
          </a:p>
        </p:txBody>
      </p:sp>
      <p:sp>
        <p:nvSpPr>
          <p:cNvPr id="49" name="Shape 47"/>
          <p:cNvSpPr/>
          <p:nvPr/>
        </p:nvSpPr>
        <p:spPr>
          <a:xfrm>
            <a:off x="8865678" y="4877908"/>
            <a:ext cx="2651344" cy="384048"/>
          </a:xfrm>
          <a:prstGeom prst="roundRect">
            <a:avLst/>
          </a:prstGeom>
          <a:solidFill>
            <a:srgbClr val="081E4B"/>
          </a:solidFill>
          <a:ln w="12700">
            <a:solidFill>
              <a:srgbClr val="081E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980740" y="5011867"/>
            <a:ext cx="2421220" cy="116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Win locally, then monetize globally</a:t>
            </a:r>
            <a:endParaRPr lang="en-US" sz="1200"/>
          </a:p>
        </p:txBody>
      </p:sp>
      <p:sp>
        <p:nvSpPr>
          <p:cNvPr id="51" name="Text 49"/>
          <p:cNvSpPr/>
          <p:nvPr/>
        </p:nvSpPr>
        <p:spPr>
          <a:xfrm>
            <a:off x="502920" y="665683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Fact Pack pp. 6–8; Trade.gov on Brazil as a major U.S. tourism source market.</a:t>
            </a:r>
            <a:endParaRPr lang="en-US" sz="73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0080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91440" tIns="45720" rIns="91440" bIns="45720" anchor="t"/>
          <a:lstStyle>
            <a:lvl1pPr>
              <a:defRPr sz="800">
                <a:solidFill>
                  <a:srgbClr val="8B8B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sz="1400" b="0" dirty="0"/>
              <a:t>9</a:t>
            </a:fld>
            <a:endParaRPr lang="en-US" sz="140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A91C743-EBE2-DA77-A198-D3F25B74832C}"/>
              </a:ext>
            </a:extLst>
          </p:cNvPr>
          <p:cNvSpPr/>
          <p:nvPr/>
        </p:nvSpPr>
        <p:spPr>
          <a:xfrm>
            <a:off x="522179" y="6145828"/>
            <a:ext cx="11064240" cy="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6E4C95E4-87C6-F556-F83F-2ED6A910E2F7}"/>
              </a:ext>
            </a:extLst>
          </p:cNvPr>
          <p:cNvSpPr/>
          <p:nvPr/>
        </p:nvSpPr>
        <p:spPr>
          <a:xfrm>
            <a:off x="6777831" y="2165880"/>
            <a:ext cx="617539" cy="219456"/>
          </a:xfrm>
          <a:prstGeom prst="roundRect">
            <a:avLst>
              <a:gd name="adj" fmla="val 33333"/>
            </a:avLst>
          </a:prstGeom>
          <a:solidFill>
            <a:srgbClr val="DDF5F1"/>
          </a:solidFill>
          <a:ln w="10160">
            <a:solidFill>
              <a:srgbClr val="DD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AD070320-09AC-2C97-F2CB-718ED98A9969}"/>
              </a:ext>
            </a:extLst>
          </p:cNvPr>
          <p:cNvSpPr/>
          <p:nvPr/>
        </p:nvSpPr>
        <p:spPr>
          <a:xfrm>
            <a:off x="6739128" y="2242134"/>
            <a:ext cx="6949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B1F28"/>
                </a:solidFill>
              </a:rPr>
              <a:t>Lounges</a:t>
            </a:r>
            <a:endParaRPr lang="en-US" sz="1100"/>
          </a:p>
        </p:txBody>
      </p:sp>
      <p:sp>
        <p:nvSpPr>
          <p:cNvPr id="53" name="Rounded Rectangle 44">
            <a:extLst>
              <a:ext uri="{FF2B5EF4-FFF2-40B4-BE49-F238E27FC236}">
                <a16:creationId xmlns:a16="http://schemas.microsoft.com/office/drawing/2014/main" id="{62C8A751-A6E5-3EED-82D9-49E8A5E4F4F8}"/>
              </a:ext>
            </a:extLst>
          </p:cNvPr>
          <p:cNvSpPr/>
          <p:nvPr/>
        </p:nvSpPr>
        <p:spPr>
          <a:xfrm>
            <a:off x="9157229" y="6190923"/>
            <a:ext cx="1367559" cy="404513"/>
          </a:xfrm>
          <a:prstGeom prst="roundRect">
            <a:avLst/>
          </a:prstGeom>
          <a:solidFill>
            <a:srgbClr val="002060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Apto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Capital One Wins</a:t>
            </a:r>
            <a:endParaRPr lang="en-US" sz="900">
              <a:solidFill>
                <a:schemeClr val="bg1"/>
              </a:solidFill>
              <a:latin typeface="Aptos"/>
            </a:endParaRPr>
          </a:p>
        </p:txBody>
      </p:sp>
      <p:sp>
        <p:nvSpPr>
          <p:cNvPr id="55" name="Rounded Rectangle 45">
            <a:extLst>
              <a:ext uri="{FF2B5EF4-FFF2-40B4-BE49-F238E27FC236}">
                <a16:creationId xmlns:a16="http://schemas.microsoft.com/office/drawing/2014/main" id="{09BBDAD8-E74D-FCF7-5C00-D6C8D6626171}"/>
              </a:ext>
            </a:extLst>
          </p:cNvPr>
          <p:cNvSpPr/>
          <p:nvPr/>
        </p:nvSpPr>
        <p:spPr>
          <a:xfrm>
            <a:off x="10570509" y="6190923"/>
            <a:ext cx="63742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57" name="Rounded Rectangle 42">
            <a:extLst>
              <a:ext uri="{FF2B5EF4-FFF2-40B4-BE49-F238E27FC236}">
                <a16:creationId xmlns:a16="http://schemas.microsoft.com/office/drawing/2014/main" id="{699DDF61-5420-7A3E-9B0F-BD2F7AF05B19}"/>
              </a:ext>
            </a:extLst>
          </p:cNvPr>
          <p:cNvSpPr/>
          <p:nvPr/>
        </p:nvSpPr>
        <p:spPr>
          <a:xfrm>
            <a:off x="875211" y="6190925"/>
            <a:ext cx="1216896" cy="420839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Recommendation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59" name="Rounded Rectangle 38">
            <a:extLst>
              <a:ext uri="{FF2B5EF4-FFF2-40B4-BE49-F238E27FC236}">
                <a16:creationId xmlns:a16="http://schemas.microsoft.com/office/drawing/2014/main" id="{80270164-9A32-C6C5-6A61-89AD20517B79}"/>
              </a:ext>
            </a:extLst>
          </p:cNvPr>
          <p:cNvSpPr/>
          <p:nvPr/>
        </p:nvSpPr>
        <p:spPr>
          <a:xfrm>
            <a:off x="2137827" y="6190923"/>
            <a:ext cx="927159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Brazil</a:t>
            </a:r>
            <a:endParaRPr lang="en-US" sz="900">
              <a:solidFill>
                <a:srgbClr val="808080"/>
              </a:solidFill>
              <a:latin typeface="Aptos"/>
              <a:hlinkClick r:id="rId6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61" name="Rounded Rectangle 39">
            <a:extLst>
              <a:ext uri="{FF2B5EF4-FFF2-40B4-BE49-F238E27FC236}">
                <a16:creationId xmlns:a16="http://schemas.microsoft.com/office/drawing/2014/main" id="{A28060EC-EFEC-19A3-7BF5-60E7D5BC568F}"/>
              </a:ext>
            </a:extLst>
          </p:cNvPr>
          <p:cNvSpPr/>
          <p:nvPr/>
        </p:nvSpPr>
        <p:spPr>
          <a:xfrm>
            <a:off x="3110706" y="6190923"/>
            <a:ext cx="133279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Brazilians Pay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68" name="Rounded Rectangle 40">
            <a:extLst>
              <a:ext uri="{FF2B5EF4-FFF2-40B4-BE49-F238E27FC236}">
                <a16:creationId xmlns:a16="http://schemas.microsoft.com/office/drawing/2014/main" id="{BBC119A3-48DC-8A60-3A53-BA58A68A3C23}"/>
              </a:ext>
            </a:extLst>
          </p:cNvPr>
          <p:cNvSpPr/>
          <p:nvPr/>
        </p:nvSpPr>
        <p:spPr>
          <a:xfrm>
            <a:off x="4489217" y="6190923"/>
            <a:ext cx="133279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Gaps PixPass Fills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72" name="Rounded Rectangle 41">
            <a:extLst>
              <a:ext uri="{FF2B5EF4-FFF2-40B4-BE49-F238E27FC236}">
                <a16:creationId xmlns:a16="http://schemas.microsoft.com/office/drawing/2014/main" id="{959D8D4F-3328-1085-2005-DBC3C1880580}"/>
              </a:ext>
            </a:extLst>
          </p:cNvPr>
          <p:cNvSpPr/>
          <p:nvPr/>
        </p:nvSpPr>
        <p:spPr>
          <a:xfrm>
            <a:off x="5867728" y="6190923"/>
            <a:ext cx="1216896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 Explained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75" name="Rounded Rectangle 42">
            <a:extLst>
              <a:ext uri="{FF2B5EF4-FFF2-40B4-BE49-F238E27FC236}">
                <a16:creationId xmlns:a16="http://schemas.microsoft.com/office/drawing/2014/main" id="{2DEDDA46-0923-17C3-FCA7-F817249D0D72}"/>
              </a:ext>
            </a:extLst>
          </p:cNvPr>
          <p:cNvSpPr/>
          <p:nvPr/>
        </p:nvSpPr>
        <p:spPr>
          <a:xfrm>
            <a:off x="7130344" y="6190923"/>
            <a:ext cx="950338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Regulations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78" name="Rounded Rectangle 43">
            <a:extLst>
              <a:ext uri="{FF2B5EF4-FFF2-40B4-BE49-F238E27FC236}">
                <a16:creationId xmlns:a16="http://schemas.microsoft.com/office/drawing/2014/main" id="{CBC2AD3C-7D2E-64BB-1BDD-2D38962EFF97}"/>
              </a:ext>
            </a:extLst>
          </p:cNvPr>
          <p:cNvSpPr/>
          <p:nvPr/>
        </p:nvSpPr>
        <p:spPr>
          <a:xfrm>
            <a:off x="8126403" y="6190923"/>
            <a:ext cx="985106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Pros &amp; Cons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371856"/>
            <a:ext cx="11468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B1F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567436" y="2359370"/>
            <a:ext cx="5394960" cy="2259628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D9D4CC"/>
            </a:solidFill>
            <a:prstDash val="solid"/>
          </a:ln>
        </p:spPr>
        <p:txBody>
          <a:bodyPr lIns="91440" tIns="45720" rIns="91440" bIns="45720" anchor="t"/>
          <a:lstStyle/>
          <a:p>
            <a:pPr marL="0" algn="l" defTabSz="914400" rtl="0" eaLnBrk="1" latinLnBrk="0" hangingPunct="1"/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4168" y="2922911"/>
            <a:ext cx="4498848" cy="1396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B1F28"/>
                </a:solidFill>
                <a:ea typeface="Aptos" pitchFamily="34" charset="-122"/>
                <a:cs typeface="Aptos" pitchFamily="34" charset="-120"/>
              </a:rPr>
              <a:t>Capital One Case Competition Fact Pack: pp. 7–8, 10, 13–15.</a:t>
            </a:r>
            <a:endParaRPr lang="ar-SA" sz="1100" dirty="0">
              <a:solidFill>
                <a:srgbClr val="1B1F28"/>
              </a:solidFill>
              <a:ea typeface="Aptos" pitchFamily="34" charset="-122"/>
              <a:cs typeface="Aptos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ar-SA" sz="1100" dirty="0">
              <a:solidFill>
                <a:srgbClr val="1B1F28"/>
              </a:solidFill>
            </a:endParaRP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ar-SA" sz="1100" dirty="0" err="1">
                <a:solidFill>
                  <a:srgbClr val="1B1F28"/>
                </a:solidFill>
              </a:rPr>
              <a:t>p</a:t>
            </a:r>
            <a:r>
              <a:rPr lang="en-US" sz="1100" dirty="0">
                <a:solidFill>
                  <a:srgbClr val="1B1F28"/>
                </a:solidFill>
              </a:rPr>
              <a:t>. 10 – prompt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B1F28"/>
                </a:solidFill>
              </a:rPr>
              <a:t>p. 13 – regional payment references, including Pix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B1F28"/>
                </a:solidFill>
              </a:rPr>
              <a:t>p. 14 – regulations shape payments 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B1F28"/>
                </a:solidFill>
              </a:rPr>
              <a:t>p. 15 – key questions to answer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B1F28"/>
                </a:solidFill>
              </a:rPr>
              <a:t>p. 7-8 – Capital One digital and travel assets </a:t>
            </a:r>
            <a:endParaRPr lang="ar-SA" sz="1100" dirty="0">
              <a:solidFill>
                <a:srgbClr val="1B1F28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502920" y="665683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>
              <a:solidFill>
                <a:srgbClr val="7A7A7A"/>
              </a:solidFill>
            </a:endParaRPr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3488" y="6400800"/>
            <a:ext cx="503736" cy="24514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91440" tIns="45720" rIns="91440" bIns="45720" anchor="t"/>
          <a:lstStyle>
            <a:lvl1pPr>
              <a:defRPr sz="800">
                <a:solidFill>
                  <a:srgbClr val="8B8B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sz="1400" b="0" dirty="0"/>
              <a:t>10</a:t>
            </a:fld>
            <a:endParaRPr lang="en-US" sz="140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00280B1-2EFA-1B0C-D81A-8D79A38F03BA}"/>
              </a:ext>
            </a:extLst>
          </p:cNvPr>
          <p:cNvSpPr/>
          <p:nvPr/>
        </p:nvSpPr>
        <p:spPr>
          <a:xfrm>
            <a:off x="522179" y="6145828"/>
            <a:ext cx="11064240" cy="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Shape 3">
            <a:extLst>
              <a:ext uri="{FF2B5EF4-FFF2-40B4-BE49-F238E27FC236}">
                <a16:creationId xmlns:a16="http://schemas.microsoft.com/office/drawing/2014/main" id="{4BDDCE2E-A41A-8F0B-0BFB-20BA325EBBA6}"/>
              </a:ext>
            </a:extLst>
          </p:cNvPr>
          <p:cNvSpPr/>
          <p:nvPr/>
        </p:nvSpPr>
        <p:spPr>
          <a:xfrm>
            <a:off x="6188528" y="1163886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D9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1">
            <a:extLst>
              <a:ext uri="{FF2B5EF4-FFF2-40B4-BE49-F238E27FC236}">
                <a16:creationId xmlns:a16="http://schemas.microsoft.com/office/drawing/2014/main" id="{94F4DF92-0364-FA93-CAF2-A2FCB7EC5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9790" y="1976075"/>
            <a:ext cx="5246696" cy="330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3"/>
              </a:rPr>
              <a:t>Banco Central do Brasil. (2025, November). 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3"/>
              </a:rPr>
              <a:t>Pix at 5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3"/>
              </a:rPr>
              <a:t>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4"/>
              </a:rPr>
              <a:t>Banco Central do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4"/>
              </a:rPr>
              <a:t>Brasil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4"/>
              </a:rPr>
              <a:t>. (2025, January). 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4"/>
              </a:rPr>
              <a:t>Pix is now the most-used payment method in Brazil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4"/>
              </a:rPr>
              <a:t>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5"/>
              </a:rPr>
              <a:t>Banco Central do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5"/>
              </a:rPr>
              <a:t>Brasil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5"/>
              </a:rPr>
              <a:t>. (n.d.). 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5"/>
              </a:rPr>
              <a:t>Pix overview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5"/>
              </a:rPr>
              <a:t>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6"/>
              </a:rPr>
              <a:t>Banco Central do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6"/>
              </a:rPr>
              <a:t>Brasil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6"/>
              </a:rPr>
              <a:t>. (n.d.). 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6"/>
              </a:rPr>
              <a:t>Open Finance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6"/>
              </a:rPr>
              <a:t>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7"/>
              </a:rPr>
              <a:t>Banco Central do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7"/>
              </a:rPr>
              <a:t>Brasil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7"/>
              </a:rPr>
              <a:t>. (n.d.). 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7"/>
              </a:rPr>
              <a:t>Fintech ecosystem / SCD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7"/>
              </a:rPr>
              <a:t>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8"/>
              </a:rPr>
              <a:t>Government of Brazil. (2025). 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8"/>
              </a:rPr>
              <a:t>International tourism data (Jan–May 2025)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8"/>
              </a:rPr>
              <a:t>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9"/>
              </a:rPr>
              <a:t>Brazil Ministry of Tourism. (n.d.). 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9"/>
              </a:rPr>
              <a:t>Pão de 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9"/>
              </a:rPr>
              <a:t>Açúcar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9"/>
              </a:rPr>
              <a:t> image asset page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9"/>
              </a:rPr>
              <a:t>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10"/>
              </a:rPr>
              <a:t>International Trade Administration. (2025). 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10"/>
              </a:rPr>
              <a:t>Brazil as a top source market for U.S. tourism and 2026 World Cup travel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10"/>
              </a:rPr>
              <a:t>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11"/>
              </a:rPr>
              <a:t>Reuters. (2025, April). 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11"/>
              </a:rPr>
              <a:t>Pix installment feature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hlinkClick r:id="rId11"/>
              </a:rPr>
              <a:t>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70" name="Text 22">
            <a:extLst>
              <a:ext uri="{FF2B5EF4-FFF2-40B4-BE49-F238E27FC236}">
                <a16:creationId xmlns:a16="http://schemas.microsoft.com/office/drawing/2014/main" id="{BD72B24F-AFD7-2823-50A8-AAD9BDDD9CA4}"/>
              </a:ext>
            </a:extLst>
          </p:cNvPr>
          <p:cNvSpPr/>
          <p:nvPr/>
        </p:nvSpPr>
        <p:spPr>
          <a:xfrm>
            <a:off x="6336112" y="142428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3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EXTERNAL SOURCES</a:t>
            </a:r>
            <a:endParaRPr lang="en-US" sz="1400" dirty="0"/>
          </a:p>
        </p:txBody>
      </p:sp>
      <p:sp>
        <p:nvSpPr>
          <p:cNvPr id="72" name="Text 2">
            <a:extLst>
              <a:ext uri="{FF2B5EF4-FFF2-40B4-BE49-F238E27FC236}">
                <a16:creationId xmlns:a16="http://schemas.microsoft.com/office/drawing/2014/main" id="{E610B2A2-4951-D5E4-930E-0617C39114DE}"/>
              </a:ext>
            </a:extLst>
          </p:cNvPr>
          <p:cNvSpPr/>
          <p:nvPr/>
        </p:nvSpPr>
        <p:spPr>
          <a:xfrm>
            <a:off x="659547" y="270596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38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PACK</a:t>
            </a:r>
            <a:endParaRPr lang="en-US" sz="1400" dirty="0"/>
          </a:p>
        </p:txBody>
      </p:sp>
      <p:sp>
        <p:nvSpPr>
          <p:cNvPr id="7" name="Rounded Rectangle 45">
            <a:extLst>
              <a:ext uri="{FF2B5EF4-FFF2-40B4-BE49-F238E27FC236}">
                <a16:creationId xmlns:a16="http://schemas.microsoft.com/office/drawing/2014/main" id="{EEB4A022-8181-241C-D619-2B7C2A9A4C29}"/>
              </a:ext>
            </a:extLst>
          </p:cNvPr>
          <p:cNvSpPr/>
          <p:nvPr/>
        </p:nvSpPr>
        <p:spPr>
          <a:xfrm>
            <a:off x="10570509" y="6190923"/>
            <a:ext cx="637421" cy="404513"/>
          </a:xfrm>
          <a:prstGeom prst="roundRect">
            <a:avLst/>
          </a:prstGeom>
          <a:solidFill>
            <a:srgbClr val="002060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Aptos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Sources</a:t>
            </a:r>
            <a:endParaRPr lang="en-US" sz="900">
              <a:solidFill>
                <a:schemeClr val="bg1"/>
              </a:solidFill>
              <a:latin typeface="Aptos"/>
            </a:endParaRPr>
          </a:p>
        </p:txBody>
      </p:sp>
      <p:sp>
        <p:nvSpPr>
          <p:cNvPr id="10" name="Rounded Rectangle 42">
            <a:extLst>
              <a:ext uri="{FF2B5EF4-FFF2-40B4-BE49-F238E27FC236}">
                <a16:creationId xmlns:a16="http://schemas.microsoft.com/office/drawing/2014/main" id="{3CCFD700-8C22-51E7-D897-6095A3D9C100}"/>
              </a:ext>
            </a:extLst>
          </p:cNvPr>
          <p:cNvSpPr/>
          <p:nvPr/>
        </p:nvSpPr>
        <p:spPr>
          <a:xfrm>
            <a:off x="875211" y="6190925"/>
            <a:ext cx="1216896" cy="420839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Recommendation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12" name="Rounded Rectangle 38">
            <a:extLst>
              <a:ext uri="{FF2B5EF4-FFF2-40B4-BE49-F238E27FC236}">
                <a16:creationId xmlns:a16="http://schemas.microsoft.com/office/drawing/2014/main" id="{28015308-AEA1-711D-E68B-C9FA6EE0C9DC}"/>
              </a:ext>
            </a:extLst>
          </p:cNvPr>
          <p:cNvSpPr/>
          <p:nvPr/>
        </p:nvSpPr>
        <p:spPr>
          <a:xfrm>
            <a:off x="2137827" y="6190923"/>
            <a:ext cx="927159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Brazil</a:t>
            </a:r>
            <a:endParaRPr lang="en-US" sz="900">
              <a:solidFill>
                <a:srgbClr val="808080"/>
              </a:solidFill>
              <a:latin typeface="Aptos"/>
              <a:hlinkClick r:id="rId14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4" name="Rounded Rectangle 39">
            <a:extLst>
              <a:ext uri="{FF2B5EF4-FFF2-40B4-BE49-F238E27FC236}">
                <a16:creationId xmlns:a16="http://schemas.microsoft.com/office/drawing/2014/main" id="{EC2E0B8B-6DCC-393A-BA73-CDD406996ABD}"/>
              </a:ext>
            </a:extLst>
          </p:cNvPr>
          <p:cNvSpPr/>
          <p:nvPr/>
        </p:nvSpPr>
        <p:spPr>
          <a:xfrm>
            <a:off x="3110706" y="6190923"/>
            <a:ext cx="133279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Brazilians Pay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16" name="Rounded Rectangle 40">
            <a:extLst>
              <a:ext uri="{FF2B5EF4-FFF2-40B4-BE49-F238E27FC236}">
                <a16:creationId xmlns:a16="http://schemas.microsoft.com/office/drawing/2014/main" id="{902D0D5A-9702-6255-6D12-4E86046A05E4}"/>
              </a:ext>
            </a:extLst>
          </p:cNvPr>
          <p:cNvSpPr/>
          <p:nvPr/>
        </p:nvSpPr>
        <p:spPr>
          <a:xfrm>
            <a:off x="4489217" y="6190923"/>
            <a:ext cx="1332791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Gaps PixPass Fills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18" name="Rounded Rectangle 41">
            <a:extLst>
              <a:ext uri="{FF2B5EF4-FFF2-40B4-BE49-F238E27FC236}">
                <a16:creationId xmlns:a16="http://schemas.microsoft.com/office/drawing/2014/main" id="{446B05E8-3754-3344-89AF-C0104CE16865}"/>
              </a:ext>
            </a:extLst>
          </p:cNvPr>
          <p:cNvSpPr/>
          <p:nvPr/>
        </p:nvSpPr>
        <p:spPr>
          <a:xfrm>
            <a:off x="5867728" y="6190923"/>
            <a:ext cx="1216896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 Explained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20" name="Rounded Rectangle 42">
            <a:extLst>
              <a:ext uri="{FF2B5EF4-FFF2-40B4-BE49-F238E27FC236}">
                <a16:creationId xmlns:a16="http://schemas.microsoft.com/office/drawing/2014/main" id="{DA45D55F-6ED6-8EFC-76FB-98ED59876510}"/>
              </a:ext>
            </a:extLst>
          </p:cNvPr>
          <p:cNvSpPr/>
          <p:nvPr/>
        </p:nvSpPr>
        <p:spPr>
          <a:xfrm>
            <a:off x="7130344" y="6190923"/>
            <a:ext cx="950338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Regulations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22" name="Rounded Rectangle 43">
            <a:extLst>
              <a:ext uri="{FF2B5EF4-FFF2-40B4-BE49-F238E27FC236}">
                <a16:creationId xmlns:a16="http://schemas.microsoft.com/office/drawing/2014/main" id="{B79A6F93-1F84-6374-DFF4-7F1C6932895F}"/>
              </a:ext>
            </a:extLst>
          </p:cNvPr>
          <p:cNvSpPr/>
          <p:nvPr/>
        </p:nvSpPr>
        <p:spPr>
          <a:xfrm>
            <a:off x="8126403" y="6190923"/>
            <a:ext cx="985106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Pros &amp; Cons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  <p:sp>
        <p:nvSpPr>
          <p:cNvPr id="24" name="Rounded Rectangle 44">
            <a:extLst>
              <a:ext uri="{FF2B5EF4-FFF2-40B4-BE49-F238E27FC236}">
                <a16:creationId xmlns:a16="http://schemas.microsoft.com/office/drawing/2014/main" id="{AEA2A469-37CC-B030-C01C-C996F061AA73}"/>
              </a:ext>
            </a:extLst>
          </p:cNvPr>
          <p:cNvSpPr/>
          <p:nvPr/>
        </p:nvSpPr>
        <p:spPr>
          <a:xfrm>
            <a:off x="9157229" y="6190923"/>
            <a:ext cx="1367559" cy="404513"/>
          </a:xfrm>
          <a:prstGeom prst="roundRect">
            <a:avLst/>
          </a:prstGeom>
          <a:solidFill>
            <a:srgbClr val="F4F2ED"/>
          </a:solidFill>
          <a:ln w="7620">
            <a:solidFill>
              <a:srgbClr val="D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/>
            <a:r>
              <a:rPr lang="en-US" sz="900" dirty="0">
                <a:solidFill>
                  <a:srgbClr val="808080"/>
                </a:solidFill>
                <a:latin typeface="Aptos"/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Capital One Wins</a:t>
            </a:r>
            <a:endParaRPr lang="en-US" sz="900">
              <a:solidFill>
                <a:srgbClr val="808080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3441</Words>
  <Application>Microsoft Macintosh PowerPoint</Application>
  <PresentationFormat>Widescreen</PresentationFormat>
  <Paragraphs>369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Capital One PixPass Brazil – Presentation Deck</dc:title>
  <dc:subject>Capital One PixPass Brazil case competition presentation deck</dc:subject>
  <dc:creator>OpenAI</dc:creator>
  <cp:lastModifiedBy>Charvi Khandelwal</cp:lastModifiedBy>
  <cp:revision>148</cp:revision>
  <dcterms:created xsi:type="dcterms:W3CDTF">2026-04-12T21:20:14Z</dcterms:created>
  <dcterms:modified xsi:type="dcterms:W3CDTF">2026-04-13T19:32:37Z</dcterms:modified>
</cp:coreProperties>
</file>